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825"/>
                </a:solidFill>
                <a:latin typeface="Calibri"/>
              </a:defRPr>
            </a:pPr>
            <a:r>
              <a:rPr sz="1200" b="0" i="0" u="none" strike="noStrike">
                <a:solidFill>
                  <a:srgbClr val="1A1825"/>
                </a:solidFill>
                <a:latin typeface="Calibri"/>
              </a:rPr>
              <a:t>What this quarter's 50 bad reviews complain about</a:t>
            </a:r>
          </a:p>
        </c:rich>
      </c:tx>
      <c:layout/>
      <c:overlay val="0"/>
    </c:title>
    <c:autoTitleDeleted val="0"/>
    <c:plotArea>
      <c:layout/>
      <c:barChart>
        <c:barDir val="bar"/>
        <c:grouping val="clustered"/>
        <c:varyColors val="0"/>
        <c:ser>
          <c:idx val="0"/>
          <c:order val="0"/>
          <c:tx>
            <c:strRef>
              <c:f>Sheet1!$B$1</c:f>
              <c:strCache>
                <c:ptCount val="1"/>
                <c:pt idx="0">
                  <c:v>1–2★ reviews</c:v>
                </c:pt>
              </c:strCache>
            </c:strRef>
          </c:tx>
          <c:spPr>
            <a:solidFill>
              <a:srgbClr val="7D66EC"/>
            </a:solidFill>
            <a:effectLst/>
          </c:spPr>
          <c:invertIfNegative val="0"/>
          <c:dLbls>
            <c:numFmt formatCode="#,##0" sourceLinked="0"/>
            <c:txPr>
              <a:bodyPr/>
              <a:lstStyle/>
              <a:p>
                <a:pPr>
                  <a:defRPr b="0" i="0" strike="noStrike" sz="1000" u="none">
                    <a:solidFill>
                      <a:srgbClr val="1A1825"/>
                    </a:solidFill>
                    <a:latin typeface="Arial"/>
                  </a:defRPr>
                </a:pPr>
              </a:p>
            </c:txPr>
            <c:showLegendKey val="0"/>
            <c:showVal val="1"/>
            <c:showCatName val="0"/>
            <c:showSerName val="0"/>
            <c:showPercent val="0"/>
            <c:showBubbleSize val="0"/>
            <c:showLeaderLines val="0"/>
          </c:dLbls>
          <c:cat>
            <c:multiLvlStrRef>
              <c:f>Sheet1!$A$2:$A$8</c:f>
              <c:multiLvlStrCache>
                <c:ptCount val="7"/>
                <c:lvl>
                  <c:pt idx="0">
                    <c:v>Texture</c:v>
                  </c:pt>
                  <c:pt idx="1">
                    <c:v>Price</c:v>
                  </c:pt>
                  <c:pt idx="2">
                    <c:v>Taste</c:v>
                  </c:pt>
                  <c:pt idx="3">
                    <c:v>Packaging</c:v>
                  </c:pt>
                  <c:pt idx="4">
                    <c:v>Digestion</c:v>
                  </c:pt>
                  <c:pt idx="5">
                    <c:v>Delivery</c:v>
                  </c:pt>
                  <c:pt idx="6">
                    <c:v>Other</c:v>
                  </c:pt>
                </c:lvl>
              </c:multiLvlStrCache>
            </c:multiLvlStrRef>
          </c:cat>
          <c:val>
            <c:numRef>
              <c:f>Sheet1!$B$2:$B$8</c:f>
              <c:numCache>
                <c:formatCode>General</c:formatCode>
                <c:ptCount val="7"/>
                <c:pt idx="0">
                  <c:v>17</c:v>
                </c:pt>
                <c:pt idx="1">
                  <c:v>8</c:v>
                </c:pt>
                <c:pt idx="2">
                  <c:v>7</c:v>
                </c:pt>
                <c:pt idx="3">
                  <c:v>6</c:v>
                </c:pt>
                <c:pt idx="4">
                  <c:v>5</c:v>
                </c:pt>
                <c:pt idx="5">
                  <c:v>4</c:v>
                </c:pt>
                <c:pt idx="6">
                  <c:v>3</c:v>
                </c:pt>
              </c:numCache>
            </c:numRef>
          </c:val>
        </c:ser>
        <c:dLbls>
          <c:numFmt formatCode="#,##0" sourceLinked="0"/>
          <c:txPr>
            <a:bodyPr/>
            <a:lstStyle/>
            <a:p>
              <a:pPr>
                <a:defRPr b="0" i="0" strike="noStrike" sz="1000" u="none">
                  <a:solidFill>
                    <a:srgbClr val="1A1825"/>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5B72"/>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 protein brand's sales fell 20% and repeat purchase dropped from 38% to 29%. The clues are everywhere, reviews, Instagram, Reddit, competitor pages, orders, but no one connects them. And when an insight does surface, every team sees it the same way, which is Instagram's shared-account blind spot. Ask Winston closes both gaps: diagnose with evidence, then hand each of five teams its own next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key design choice: the LLM (Nemotron via Ollama) only plans and words things; Python calculates every number from the source rows. Seven agents: Planner, Writer and Framer are LLM agents; Analyst, Playbook, Governance and Router are code. Every sentence must cite its rows and use only numbers from them; a failing sentence goes back to the LLM with the reason, and if it still fails it is shown flagged as not verified. Anything public, paid or price-related waits for Strategy's approval, even if the LLM rewords it. Evidence with fewer than 8 observations is held for Insights. If the LLM is down, Winston shows an error instead of template text. The Agent trace tab shows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the FDE finds that texture is the top complaint (34% of bad reviews, up from 22.5%) and the main reason regular buyers stopped. Each team gets its own move: R&amp;D fixes the texture, Marketing sends a reorder reminder on day 22 and answers the 22 open sugar questions on r/IndianFitness (which needs Strategy's approval because it's public), Innovation scopes a plant-protein bar from the same evidence Insights validates, and Strategy decides on subscribe-and-save. Teams mark cards Not relevant and log whether an action worked, and that re-ranks only their own board. Next steps: live data connectors, outcomes measured automatically, and a refer-a-brand growth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25"/>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t"/>
          <a:lstStyle/>
          <a:p>
            <a:pPr indent="0" marL="0">
              <a:buNone/>
            </a:pPr>
            <a:r>
              <a:rPr lang="en-US" sz="1100" b="1" spc="200" kern="0" dirty="0">
                <a:solidFill>
                  <a:srgbClr val="B9ACF5"/>
                </a:solidFill>
                <a:latin typeface="Calibri" pitchFamily="34" charset="0"/>
                <a:ea typeface="Calibri" pitchFamily="34" charset="-122"/>
                <a:cs typeface="Calibri" pitchFamily="34" charset="-120"/>
              </a:rPr>
              <a:t>TEAM 2 · CASE STUDY: INSTAGRAM</a:t>
            </a:r>
            <a:endParaRPr lang="en-US" sz="1100" dirty="0"/>
          </a:p>
        </p:txBody>
      </p:sp>
      <p:sp>
        <p:nvSpPr>
          <p:cNvPr id="3" name="Text 1"/>
          <p:cNvSpPr txBox="1"/>
          <p:nvPr/>
        </p:nvSpPr>
        <p:spPr>
          <a:xfrm>
            <a:off x="548640" y="731520"/>
            <a:ext cx="8046720" cy="64008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CREWASIS · Ask Winston</a:t>
            </a:r>
            <a:endParaRPr lang="en-US" sz="4000" dirty="0"/>
          </a:p>
        </p:txBody>
      </p:sp>
      <p:sp>
        <p:nvSpPr>
          <p:cNvPr id="4" name="Text 2"/>
          <p:cNvSpPr txBox="1"/>
          <p:nvPr/>
        </p:nvSpPr>
        <p:spPr>
          <a:xfrm>
            <a:off x="548640" y="1463040"/>
            <a:ext cx="7863840" cy="640080"/>
          </a:xfrm>
          <a:prstGeom prst="rect">
            <a:avLst/>
          </a:prstGeom>
          <a:noFill/>
          <a:ln/>
        </p:spPr>
        <p:txBody>
          <a:bodyPr wrap="square" lIns="0" tIns="0" rIns="0" bIns="0" rtlCol="0" anchor="t"/>
          <a:lstStyle/>
          <a:p>
            <a:pPr indent="0" marL="0">
              <a:buNone/>
            </a:pPr>
            <a:r>
              <a:rPr lang="en-US" sz="1600" dirty="0">
                <a:solidFill>
                  <a:srgbClr val="D8D4E8"/>
                </a:solidFill>
                <a:latin typeface="Calibri" pitchFamily="34" charset="0"/>
                <a:ea typeface="Calibri" pitchFamily="34" charset="-122"/>
                <a:cs typeface="Calibri" pitchFamily="34" charset="-120"/>
              </a:rPr>
              <a:t>From answer to action: Winston's agents find what's wrong, prove it with source rows, and hand each team its next move.</a:t>
            </a:r>
            <a:endParaRPr lang="en-US" sz="1600" dirty="0"/>
          </a:p>
        </p:txBody>
      </p:sp>
      <p:sp>
        <p:nvSpPr>
          <p:cNvPr id="5" name="Text 3"/>
          <p:cNvSpPr txBox="1"/>
          <p:nvPr/>
        </p:nvSpPr>
        <p:spPr>
          <a:xfrm>
            <a:off x="548640" y="2331720"/>
            <a:ext cx="402336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The problem</a:t>
            </a:r>
            <a:endParaRPr lang="en-US" sz="1800" dirty="0"/>
          </a:p>
        </p:txBody>
      </p:sp>
      <p:sp>
        <p:nvSpPr>
          <p:cNvPr id="6" name="Shape 4"/>
          <p:cNvSpPr/>
          <p:nvPr/>
        </p:nvSpPr>
        <p:spPr>
          <a:xfrm>
            <a:off x="548640" y="2788920"/>
            <a:ext cx="457200" cy="457200"/>
          </a:xfrm>
          <a:prstGeom prst="ellipse">
            <a:avLst/>
          </a:prstGeom>
          <a:solidFill>
            <a:srgbClr val="7D66EC"/>
          </a:solidFill>
          <a:ln w="12700">
            <a:solidFill>
              <a:srgbClr val="7D66EC"/>
            </a:solidFill>
            <a:prstDash val="solid"/>
          </a:ln>
        </p:spPr>
      </p:sp>
      <p:pic>
        <p:nvPicPr>
          <p:cNvPr id="7" name="Image 0" descr="preencoded.png">    </p:cNvPr>
          <p:cNvPicPr>
            <a:picLocks noChangeAspect="1"/>
          </p:cNvPicPr>
          <p:nvPr/>
        </p:nvPicPr>
        <p:blipFill>
          <a:blip r:embed="rId1"/>
          <a:stretch>
            <a:fillRect/>
          </a:stretch>
        </p:blipFill>
        <p:spPr>
          <a:xfrm>
            <a:off x="662940" y="2903220"/>
            <a:ext cx="228600" cy="228600"/>
          </a:xfrm>
          <a:prstGeom prst="rect">
            <a:avLst/>
          </a:prstGeom>
        </p:spPr>
      </p:pic>
      <p:sp>
        <p:nvSpPr>
          <p:cNvPr id="8" name="Text 5"/>
          <p:cNvSpPr txBox="1"/>
          <p:nvPr/>
        </p:nvSpPr>
        <p:spPr>
          <a:xfrm>
            <a:off x="1188720" y="2770632"/>
            <a:ext cx="34747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Signals are scattered</a:t>
            </a:r>
            <a:endParaRPr lang="en-US" sz="1400" dirty="0"/>
          </a:p>
        </p:txBody>
      </p:sp>
      <p:sp>
        <p:nvSpPr>
          <p:cNvPr id="9" name="Text 6"/>
          <p:cNvSpPr txBox="1"/>
          <p:nvPr/>
        </p:nvSpPr>
        <p:spPr>
          <a:xfrm>
            <a:off x="1188720" y="3044952"/>
            <a:ext cx="3474720" cy="566928"/>
          </a:xfrm>
          <a:prstGeom prst="rect">
            <a:avLst/>
          </a:prstGeom>
          <a:noFill/>
          <a:ln/>
        </p:spPr>
        <p:txBody>
          <a:bodyPr wrap="square" lIns="0" tIns="0" rIns="0" bIns="0" rtlCol="0" anchor="t"/>
          <a:lstStyle/>
          <a:p>
            <a:pPr indent="0" marL="0">
              <a:buNone/>
            </a:pPr>
            <a:r>
              <a:rPr lang="en-US" sz="1150" dirty="0">
                <a:solidFill>
                  <a:srgbClr val="C9C4DA"/>
                </a:solidFill>
                <a:latin typeface="Calibri" pitchFamily="34" charset="0"/>
                <a:ea typeface="Calibri" pitchFamily="34" charset="-122"/>
                <a:cs typeface="Calibri" pitchFamily="34" charset="-120"/>
              </a:rPr>
              <a:t>Reviews, Instagram, Reddit, competitor pages and orders sit in different places, and small brands have no analyst to connect them.</a:t>
            </a:r>
            <a:endParaRPr lang="en-US" sz="1150" dirty="0"/>
          </a:p>
        </p:txBody>
      </p:sp>
      <p:sp>
        <p:nvSpPr>
          <p:cNvPr id="10" name="Shape 7"/>
          <p:cNvSpPr/>
          <p:nvPr/>
        </p:nvSpPr>
        <p:spPr>
          <a:xfrm>
            <a:off x="548640" y="3703320"/>
            <a:ext cx="457200" cy="457200"/>
          </a:xfrm>
          <a:prstGeom prst="ellipse">
            <a:avLst/>
          </a:prstGeom>
          <a:solidFill>
            <a:srgbClr val="7D66EC"/>
          </a:solidFill>
          <a:ln w="12700">
            <a:solidFill>
              <a:srgbClr val="7D66EC"/>
            </a:solidFill>
            <a:prstDash val="solid"/>
          </a:ln>
        </p:spPr>
      </p:sp>
      <p:pic>
        <p:nvPicPr>
          <p:cNvPr id="11" name="Image 1" descr="preencoded.png">    </p:cNvPr>
          <p:cNvPicPr>
            <a:picLocks noChangeAspect="1"/>
          </p:cNvPicPr>
          <p:nvPr/>
        </p:nvPicPr>
        <p:blipFill>
          <a:blip r:embed="rId2"/>
          <a:stretch>
            <a:fillRect/>
          </a:stretch>
        </p:blipFill>
        <p:spPr>
          <a:xfrm>
            <a:off x="662940" y="3817620"/>
            <a:ext cx="228600" cy="228600"/>
          </a:xfrm>
          <a:prstGeom prst="rect">
            <a:avLst/>
          </a:prstGeom>
        </p:spPr>
      </p:pic>
      <p:sp>
        <p:nvSpPr>
          <p:cNvPr id="12" name="Text 8"/>
          <p:cNvSpPr txBox="1"/>
          <p:nvPr/>
        </p:nvSpPr>
        <p:spPr>
          <a:xfrm>
            <a:off x="1188720" y="3685032"/>
            <a:ext cx="34747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One feed for every role</a:t>
            </a:r>
            <a:endParaRPr lang="en-US" sz="1400" dirty="0"/>
          </a:p>
        </p:txBody>
      </p:sp>
      <p:sp>
        <p:nvSpPr>
          <p:cNvPr id="13" name="Text 9"/>
          <p:cNvSpPr txBox="1"/>
          <p:nvPr/>
        </p:nvSpPr>
        <p:spPr>
          <a:xfrm>
            <a:off x="1188720" y="3959352"/>
            <a:ext cx="3474720" cy="566928"/>
          </a:xfrm>
          <a:prstGeom prst="rect">
            <a:avLst/>
          </a:prstGeom>
          <a:noFill/>
          <a:ln/>
        </p:spPr>
        <p:txBody>
          <a:bodyPr wrap="square" lIns="0" tIns="0" rIns="0" bIns="0" rtlCol="0" anchor="t"/>
          <a:lstStyle/>
          <a:p>
            <a:pPr indent="0" marL="0">
              <a:buNone/>
            </a:pPr>
            <a:r>
              <a:rPr lang="en-US" sz="1150" dirty="0">
                <a:solidFill>
                  <a:srgbClr val="C9C4DA"/>
                </a:solidFill>
                <a:latin typeface="Calibri" pitchFamily="34" charset="0"/>
                <a:ea typeface="Calibri" pitchFamily="34" charset="-122"/>
                <a:cs typeface="Calibri" pitchFamily="34" charset="-120"/>
              </a:rPr>
              <a:t>Like Instagram treating a shared account as one person, insights reach every team the same way, so nobody owns them.</a:t>
            </a:r>
            <a:endParaRPr lang="en-US" sz="1150" dirty="0"/>
          </a:p>
        </p:txBody>
      </p:sp>
      <p:sp>
        <p:nvSpPr>
          <p:cNvPr id="14" name="Shape 10"/>
          <p:cNvSpPr/>
          <p:nvPr/>
        </p:nvSpPr>
        <p:spPr>
          <a:xfrm>
            <a:off x="5074920" y="2331720"/>
            <a:ext cx="3520440" cy="640080"/>
          </a:xfrm>
          <a:prstGeom prst="roundRect">
            <a:avLst>
              <a:gd name="adj" fmla="val 11429"/>
            </a:avLst>
          </a:prstGeom>
          <a:solidFill>
            <a:srgbClr val="2A2540"/>
          </a:solidFill>
          <a:ln w="12700">
            <a:solidFill>
              <a:srgbClr val="2A2540"/>
            </a:solidFill>
            <a:prstDash val="solid"/>
          </a:ln>
        </p:spPr>
      </p:sp>
      <p:sp>
        <p:nvSpPr>
          <p:cNvPr id="15" name="Text 11"/>
          <p:cNvSpPr txBox="1"/>
          <p:nvPr/>
        </p:nvSpPr>
        <p:spPr>
          <a:xfrm>
            <a:off x="5257800" y="2441448"/>
            <a:ext cx="1600200" cy="420624"/>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−20%</a:t>
            </a:r>
            <a:endParaRPr lang="en-US" sz="2400" dirty="0"/>
          </a:p>
        </p:txBody>
      </p:sp>
      <p:sp>
        <p:nvSpPr>
          <p:cNvPr id="16" name="Text 12"/>
          <p:cNvSpPr txBox="1"/>
          <p:nvPr/>
        </p:nvSpPr>
        <p:spPr>
          <a:xfrm>
            <a:off x="6903720" y="2441448"/>
            <a:ext cx="1600200" cy="420624"/>
          </a:xfrm>
          <a:prstGeom prst="rect">
            <a:avLst/>
          </a:prstGeom>
          <a:noFill/>
          <a:ln/>
        </p:spPr>
        <p:txBody>
          <a:bodyPr wrap="square" lIns="0" tIns="0" rIns="0" bIns="0" rtlCol="0" anchor="ctr"/>
          <a:lstStyle/>
          <a:p>
            <a:pPr indent="0" marL="0">
              <a:buNone/>
            </a:pPr>
            <a:r>
              <a:rPr lang="en-US" sz="1200" dirty="0">
                <a:solidFill>
                  <a:srgbClr val="D8D4E8"/>
                </a:solidFill>
                <a:latin typeface="Calibri" pitchFamily="34" charset="0"/>
                <a:ea typeface="Calibri" pitchFamily="34" charset="-122"/>
                <a:cs typeface="Calibri" pitchFamily="34" charset="-120"/>
              </a:rPr>
              <a:t>bar sales this quarter</a:t>
            </a:r>
            <a:endParaRPr lang="en-US" sz="1200" dirty="0"/>
          </a:p>
        </p:txBody>
      </p:sp>
      <p:sp>
        <p:nvSpPr>
          <p:cNvPr id="17" name="Shape 13"/>
          <p:cNvSpPr/>
          <p:nvPr/>
        </p:nvSpPr>
        <p:spPr>
          <a:xfrm>
            <a:off x="5074920" y="3090672"/>
            <a:ext cx="3520440" cy="640080"/>
          </a:xfrm>
          <a:prstGeom prst="roundRect">
            <a:avLst>
              <a:gd name="adj" fmla="val 11429"/>
            </a:avLst>
          </a:prstGeom>
          <a:solidFill>
            <a:srgbClr val="2A2540"/>
          </a:solidFill>
          <a:ln w="12700">
            <a:solidFill>
              <a:srgbClr val="2A2540"/>
            </a:solidFill>
            <a:prstDash val="solid"/>
          </a:ln>
        </p:spPr>
      </p:sp>
      <p:sp>
        <p:nvSpPr>
          <p:cNvPr id="18" name="Text 14"/>
          <p:cNvSpPr txBox="1"/>
          <p:nvPr/>
        </p:nvSpPr>
        <p:spPr>
          <a:xfrm>
            <a:off x="5257800" y="3200400"/>
            <a:ext cx="1600200" cy="420624"/>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38% → 29%</a:t>
            </a:r>
            <a:endParaRPr lang="en-US" sz="2400" dirty="0"/>
          </a:p>
        </p:txBody>
      </p:sp>
      <p:sp>
        <p:nvSpPr>
          <p:cNvPr id="19" name="Text 15"/>
          <p:cNvSpPr txBox="1"/>
          <p:nvPr/>
        </p:nvSpPr>
        <p:spPr>
          <a:xfrm>
            <a:off x="6903720" y="3200400"/>
            <a:ext cx="1600200" cy="420624"/>
          </a:xfrm>
          <a:prstGeom prst="rect">
            <a:avLst/>
          </a:prstGeom>
          <a:noFill/>
          <a:ln/>
        </p:spPr>
        <p:txBody>
          <a:bodyPr wrap="square" lIns="0" tIns="0" rIns="0" bIns="0" rtlCol="0" anchor="ctr"/>
          <a:lstStyle/>
          <a:p>
            <a:pPr indent="0" marL="0">
              <a:buNone/>
            </a:pPr>
            <a:r>
              <a:rPr lang="en-US" sz="1200" dirty="0">
                <a:solidFill>
                  <a:srgbClr val="D8D4E8"/>
                </a:solidFill>
                <a:latin typeface="Calibri" pitchFamily="34" charset="0"/>
                <a:ea typeface="Calibri" pitchFamily="34" charset="-122"/>
                <a:cs typeface="Calibri" pitchFamily="34" charset="-120"/>
              </a:rPr>
              <a:t>repeat purchase</a:t>
            </a:r>
            <a:endParaRPr lang="en-US" sz="1200" dirty="0"/>
          </a:p>
        </p:txBody>
      </p:sp>
      <p:sp>
        <p:nvSpPr>
          <p:cNvPr id="20" name="Shape 16"/>
          <p:cNvSpPr/>
          <p:nvPr/>
        </p:nvSpPr>
        <p:spPr>
          <a:xfrm>
            <a:off x="5074920" y="3849624"/>
            <a:ext cx="3520440" cy="640080"/>
          </a:xfrm>
          <a:prstGeom prst="roundRect">
            <a:avLst>
              <a:gd name="adj" fmla="val 11429"/>
            </a:avLst>
          </a:prstGeom>
          <a:solidFill>
            <a:srgbClr val="2A2540"/>
          </a:solidFill>
          <a:ln w="12700">
            <a:solidFill>
              <a:srgbClr val="2A2540"/>
            </a:solidFill>
            <a:prstDash val="solid"/>
          </a:ln>
        </p:spPr>
      </p:sp>
      <p:sp>
        <p:nvSpPr>
          <p:cNvPr id="21" name="Text 17"/>
          <p:cNvSpPr txBox="1"/>
          <p:nvPr/>
        </p:nvSpPr>
        <p:spPr>
          <a:xfrm>
            <a:off x="5257800" y="3959352"/>
            <a:ext cx="1600200" cy="420624"/>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400</a:t>
            </a:r>
            <a:endParaRPr lang="en-US" sz="2400" dirty="0"/>
          </a:p>
        </p:txBody>
      </p:sp>
      <p:sp>
        <p:nvSpPr>
          <p:cNvPr id="22" name="Text 18"/>
          <p:cNvSpPr txBox="1"/>
          <p:nvPr/>
        </p:nvSpPr>
        <p:spPr>
          <a:xfrm>
            <a:off x="6903720" y="3959352"/>
            <a:ext cx="1600200" cy="420624"/>
          </a:xfrm>
          <a:prstGeom prst="rect">
            <a:avLst/>
          </a:prstGeom>
          <a:noFill/>
          <a:ln/>
        </p:spPr>
        <p:txBody>
          <a:bodyPr wrap="square" lIns="0" tIns="0" rIns="0" bIns="0" rtlCol="0" anchor="ctr"/>
          <a:lstStyle/>
          <a:p>
            <a:pPr indent="0" marL="0">
              <a:buNone/>
            </a:pPr>
            <a:r>
              <a:rPr lang="en-US" sz="1200" dirty="0">
                <a:solidFill>
                  <a:srgbClr val="D8D4E8"/>
                </a:solidFill>
                <a:latin typeface="Calibri" pitchFamily="34" charset="0"/>
                <a:ea typeface="Calibri" pitchFamily="34" charset="-122"/>
                <a:cs typeface="Calibri" pitchFamily="34" charset="-120"/>
              </a:rPr>
              <a:t>regular buyers stopped ordering</a:t>
            </a:r>
            <a:endParaRPr lang="en-US" sz="1200" dirty="0"/>
          </a:p>
        </p:txBody>
      </p:sp>
      <p:sp>
        <p:nvSpPr>
          <p:cNvPr id="23" name="Text 19"/>
          <p:cNvSpPr txBox="1"/>
          <p:nvPr/>
        </p:nvSpPr>
        <p:spPr>
          <a:xfrm>
            <a:off x="5074920" y="4617720"/>
            <a:ext cx="3520440" cy="228600"/>
          </a:xfrm>
          <a:prstGeom prst="rect">
            <a:avLst/>
          </a:prstGeom>
          <a:noFill/>
          <a:ln/>
        </p:spPr>
        <p:txBody>
          <a:bodyPr wrap="square" lIns="0" tIns="0" rIns="0" bIns="0" rtlCol="0" anchor="t"/>
          <a:lstStyle/>
          <a:p>
            <a:pPr indent="0" marL="0">
              <a:buNone/>
            </a:pPr>
            <a:r>
              <a:rPr lang="en-US" sz="950" i="1" dirty="0">
                <a:solidFill>
                  <a:srgbClr val="8F8AA3"/>
                </a:solidFill>
                <a:latin typeface="Calibri" pitchFamily="34" charset="0"/>
                <a:ea typeface="Calibri" pitchFamily="34" charset="-122"/>
                <a:cs typeface="Calibri" pitchFamily="34" charset="-120"/>
              </a:rPr>
              <a:t>Demo: ProForge Nutrition, a fictional protein brand · only the input data is synthetic</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t"/>
          <a:lstStyle/>
          <a:p>
            <a:pPr indent="0" marL="0">
              <a:buNone/>
            </a:pPr>
            <a:r>
              <a:rPr lang="en-US" sz="2800" b="1" dirty="0">
                <a:solidFill>
                  <a:srgbClr val="1A1825"/>
                </a:solidFill>
                <a:latin typeface="Arial" pitchFamily="34" charset="0"/>
                <a:ea typeface="Arial" pitchFamily="34" charset="-122"/>
                <a:cs typeface="Arial" pitchFamily="34" charset="-120"/>
              </a:rPr>
              <a:t>How it works: LLM agents write, code agents check</a:t>
            </a:r>
            <a:endParaRPr lang="en-US" sz="2800" dirty="0"/>
          </a:p>
        </p:txBody>
      </p:sp>
      <p:sp>
        <p:nvSpPr>
          <p:cNvPr id="3" name="Shape 1"/>
          <p:cNvSpPr/>
          <p:nvPr/>
        </p:nvSpPr>
        <p:spPr>
          <a:xfrm>
            <a:off x="1005840" y="1143000"/>
            <a:ext cx="548640" cy="548640"/>
          </a:xfrm>
          <a:prstGeom prst="ellipse">
            <a:avLst/>
          </a:prstGeom>
          <a:solidFill>
            <a:srgbClr val="7D66EC"/>
          </a:solidFill>
          <a:ln w="12700">
            <a:solidFill>
              <a:srgbClr val="7D66EC"/>
            </a:solidFill>
            <a:prstDash val="solid"/>
          </a:ln>
        </p:spPr>
      </p:sp>
      <p:pic>
        <p:nvPicPr>
          <p:cNvPr id="4" name="Image 0" descr="preencoded.png">    </p:cNvPr>
          <p:cNvPicPr>
            <a:picLocks noChangeAspect="1"/>
          </p:cNvPicPr>
          <p:nvPr/>
        </p:nvPicPr>
        <p:blipFill>
          <a:blip r:embed="rId1"/>
          <a:stretch>
            <a:fillRect/>
          </a:stretch>
        </p:blipFill>
        <p:spPr>
          <a:xfrm>
            <a:off x="1143000" y="1280160"/>
            <a:ext cx="274320" cy="274320"/>
          </a:xfrm>
          <a:prstGeom prst="rect">
            <a:avLst/>
          </a:prstGeom>
        </p:spPr>
      </p:pic>
      <p:sp>
        <p:nvSpPr>
          <p:cNvPr id="5" name="Shape 2"/>
          <p:cNvSpPr/>
          <p:nvPr/>
        </p:nvSpPr>
        <p:spPr>
          <a:xfrm>
            <a:off x="1627632" y="1417320"/>
            <a:ext cx="950976" cy="0"/>
          </a:xfrm>
          <a:prstGeom prst="line">
            <a:avLst/>
          </a:prstGeom>
          <a:noFill/>
          <a:ln w="19050">
            <a:solidFill>
              <a:srgbClr val="B9ACF5"/>
            </a:solidFill>
            <a:prstDash val="solid"/>
            <a:tailEnd type="triangle"/>
          </a:ln>
        </p:spPr>
      </p:sp>
      <p:sp>
        <p:nvSpPr>
          <p:cNvPr id="6" name="Text 3"/>
          <p:cNvSpPr txBox="1"/>
          <p:nvPr/>
        </p:nvSpPr>
        <p:spPr>
          <a:xfrm>
            <a:off x="548640" y="1801368"/>
            <a:ext cx="1463040" cy="274320"/>
          </a:xfrm>
          <a:prstGeom prst="rect">
            <a:avLst/>
          </a:prstGeom>
          <a:noFill/>
          <a:ln/>
        </p:spPr>
        <p:txBody>
          <a:bodyPr wrap="square" lIns="0" tIns="0" rIns="0" bIns="0" rtlCol="0" anchor="t"/>
          <a:lstStyle/>
          <a:p>
            <a:pPr algn="ctr" indent="0" marL="0">
              <a:buNone/>
            </a:pPr>
            <a:r>
              <a:rPr lang="en-US" sz="1400" b="1" dirty="0">
                <a:solidFill>
                  <a:srgbClr val="1A1825"/>
                </a:solidFill>
                <a:latin typeface="Calibri" pitchFamily="34" charset="0"/>
                <a:ea typeface="Calibri" pitchFamily="34" charset="-122"/>
                <a:cs typeface="Calibri" pitchFamily="34" charset="-120"/>
              </a:rPr>
              <a:t>1 · Ask</a:t>
            </a:r>
            <a:endParaRPr lang="en-US" sz="1400" dirty="0"/>
          </a:p>
        </p:txBody>
      </p:sp>
      <p:sp>
        <p:nvSpPr>
          <p:cNvPr id="7" name="Text 4"/>
          <p:cNvSpPr txBox="1"/>
          <p:nvPr/>
        </p:nvSpPr>
        <p:spPr>
          <a:xfrm>
            <a:off x="548640" y="2084832"/>
            <a:ext cx="1463040" cy="685800"/>
          </a:xfrm>
          <a:prstGeom prst="rect">
            <a:avLst/>
          </a:prstGeom>
          <a:noFill/>
          <a:ln/>
        </p:spPr>
        <p:txBody>
          <a:bodyPr wrap="square" lIns="0" tIns="0" rIns="0" bIns="0" rtlCol="0" anchor="t"/>
          <a:lstStyle/>
          <a:p>
            <a:pPr algn="ctr" indent="0" marL="0">
              <a:buNone/>
            </a:pPr>
            <a:r>
              <a:rPr lang="en-US" sz="1100" dirty="0">
                <a:solidFill>
                  <a:srgbClr val="5F5B72"/>
                </a:solidFill>
                <a:latin typeface="Calibri" pitchFamily="34" charset="0"/>
                <a:ea typeface="Calibri" pitchFamily="34" charset="-122"/>
                <a:cs typeface="Calibri" pitchFamily="34" charset="-120"/>
              </a:rPr>
              <a:t>The brand asks Winston its problem in plain words.</a:t>
            </a:r>
            <a:endParaRPr lang="en-US" sz="1100" dirty="0"/>
          </a:p>
        </p:txBody>
      </p:sp>
      <p:sp>
        <p:nvSpPr>
          <p:cNvPr id="8" name="Shape 5"/>
          <p:cNvSpPr/>
          <p:nvPr/>
        </p:nvSpPr>
        <p:spPr>
          <a:xfrm>
            <a:off x="2651760" y="1143000"/>
            <a:ext cx="548640" cy="548640"/>
          </a:xfrm>
          <a:prstGeom prst="ellipse">
            <a:avLst/>
          </a:prstGeom>
          <a:solidFill>
            <a:srgbClr val="7D66EC"/>
          </a:solidFill>
          <a:ln w="12700">
            <a:solidFill>
              <a:srgbClr val="7D66EC"/>
            </a:solidFill>
            <a:prstDash val="solid"/>
          </a:ln>
        </p:spPr>
      </p:sp>
      <p:pic>
        <p:nvPicPr>
          <p:cNvPr id="9" name="Image 1" descr="preencoded.png">    </p:cNvPr>
          <p:cNvPicPr>
            <a:picLocks noChangeAspect="1"/>
          </p:cNvPicPr>
          <p:nvPr/>
        </p:nvPicPr>
        <p:blipFill>
          <a:blip r:embed="rId2"/>
          <a:stretch>
            <a:fillRect/>
          </a:stretch>
        </p:blipFill>
        <p:spPr>
          <a:xfrm>
            <a:off x="2788920" y="1280160"/>
            <a:ext cx="274320" cy="274320"/>
          </a:xfrm>
          <a:prstGeom prst="rect">
            <a:avLst/>
          </a:prstGeom>
        </p:spPr>
      </p:pic>
      <p:sp>
        <p:nvSpPr>
          <p:cNvPr id="10" name="Shape 6"/>
          <p:cNvSpPr/>
          <p:nvPr/>
        </p:nvSpPr>
        <p:spPr>
          <a:xfrm>
            <a:off x="3273552" y="1417320"/>
            <a:ext cx="950976" cy="0"/>
          </a:xfrm>
          <a:prstGeom prst="line">
            <a:avLst/>
          </a:prstGeom>
          <a:noFill/>
          <a:ln w="19050">
            <a:solidFill>
              <a:srgbClr val="B9ACF5"/>
            </a:solidFill>
            <a:prstDash val="solid"/>
            <a:tailEnd type="triangle"/>
          </a:ln>
        </p:spPr>
      </p:sp>
      <p:sp>
        <p:nvSpPr>
          <p:cNvPr id="11" name="Text 7"/>
          <p:cNvSpPr txBox="1"/>
          <p:nvPr/>
        </p:nvSpPr>
        <p:spPr>
          <a:xfrm>
            <a:off x="2194560" y="1801368"/>
            <a:ext cx="1463040" cy="274320"/>
          </a:xfrm>
          <a:prstGeom prst="rect">
            <a:avLst/>
          </a:prstGeom>
          <a:noFill/>
          <a:ln/>
        </p:spPr>
        <p:txBody>
          <a:bodyPr wrap="square" lIns="0" tIns="0" rIns="0" bIns="0" rtlCol="0" anchor="t"/>
          <a:lstStyle/>
          <a:p>
            <a:pPr algn="ctr" indent="0" marL="0">
              <a:buNone/>
            </a:pPr>
            <a:r>
              <a:rPr lang="en-US" sz="1400" b="1" dirty="0">
                <a:solidFill>
                  <a:srgbClr val="1A1825"/>
                </a:solidFill>
                <a:latin typeface="Calibri" pitchFamily="34" charset="0"/>
                <a:ea typeface="Calibri" pitchFamily="34" charset="-122"/>
                <a:cs typeface="Calibri" pitchFamily="34" charset="-120"/>
              </a:rPr>
              <a:t>2 · Plan</a:t>
            </a:r>
            <a:endParaRPr lang="en-US" sz="1400" dirty="0"/>
          </a:p>
        </p:txBody>
      </p:sp>
      <p:sp>
        <p:nvSpPr>
          <p:cNvPr id="12" name="Text 8"/>
          <p:cNvSpPr txBox="1"/>
          <p:nvPr/>
        </p:nvSpPr>
        <p:spPr>
          <a:xfrm>
            <a:off x="2194560" y="2084832"/>
            <a:ext cx="1463040" cy="685800"/>
          </a:xfrm>
          <a:prstGeom prst="rect">
            <a:avLst/>
          </a:prstGeom>
          <a:noFill/>
          <a:ln/>
        </p:spPr>
        <p:txBody>
          <a:bodyPr wrap="square" lIns="0" tIns="0" rIns="0" bIns="0" rtlCol="0" anchor="t"/>
          <a:lstStyle/>
          <a:p>
            <a:pPr algn="ctr" indent="0" marL="0">
              <a:buNone/>
            </a:pPr>
            <a:r>
              <a:rPr lang="en-US" sz="1100" dirty="0">
                <a:solidFill>
                  <a:srgbClr val="5F5B72"/>
                </a:solidFill>
                <a:latin typeface="Calibri" pitchFamily="34" charset="0"/>
                <a:ea typeface="Calibri" pitchFamily="34" charset="-122"/>
                <a:cs typeface="Calibri" pitchFamily="34" charset="-120"/>
              </a:rPr>
              <a:t>Planner (LLM) picks which of 6 lenses to run.</a:t>
            </a:r>
            <a:endParaRPr lang="en-US" sz="1100" dirty="0"/>
          </a:p>
        </p:txBody>
      </p:sp>
      <p:sp>
        <p:nvSpPr>
          <p:cNvPr id="13" name="Shape 9"/>
          <p:cNvSpPr/>
          <p:nvPr/>
        </p:nvSpPr>
        <p:spPr>
          <a:xfrm>
            <a:off x="4297680" y="1143000"/>
            <a:ext cx="548640" cy="548640"/>
          </a:xfrm>
          <a:prstGeom prst="ellipse">
            <a:avLst/>
          </a:prstGeom>
          <a:solidFill>
            <a:srgbClr val="7D66EC"/>
          </a:solidFill>
          <a:ln w="12700">
            <a:solidFill>
              <a:srgbClr val="7D66EC"/>
            </a:solidFill>
            <a:prstDash val="solid"/>
          </a:ln>
        </p:spPr>
      </p:sp>
      <p:pic>
        <p:nvPicPr>
          <p:cNvPr id="14" name="Image 2" descr="preencoded.png">    </p:cNvPr>
          <p:cNvPicPr>
            <a:picLocks noChangeAspect="1"/>
          </p:cNvPicPr>
          <p:nvPr/>
        </p:nvPicPr>
        <p:blipFill>
          <a:blip r:embed="rId3"/>
          <a:stretch>
            <a:fillRect/>
          </a:stretch>
        </p:blipFill>
        <p:spPr>
          <a:xfrm>
            <a:off x="4434840" y="1280160"/>
            <a:ext cx="274320" cy="274320"/>
          </a:xfrm>
          <a:prstGeom prst="rect">
            <a:avLst/>
          </a:prstGeom>
        </p:spPr>
      </p:pic>
      <p:sp>
        <p:nvSpPr>
          <p:cNvPr id="15" name="Shape 10"/>
          <p:cNvSpPr/>
          <p:nvPr/>
        </p:nvSpPr>
        <p:spPr>
          <a:xfrm>
            <a:off x="4919472" y="1417320"/>
            <a:ext cx="950976" cy="0"/>
          </a:xfrm>
          <a:prstGeom prst="line">
            <a:avLst/>
          </a:prstGeom>
          <a:noFill/>
          <a:ln w="19050">
            <a:solidFill>
              <a:srgbClr val="B9ACF5"/>
            </a:solidFill>
            <a:prstDash val="solid"/>
            <a:tailEnd type="triangle"/>
          </a:ln>
        </p:spPr>
      </p:sp>
      <p:sp>
        <p:nvSpPr>
          <p:cNvPr id="16" name="Text 11"/>
          <p:cNvSpPr txBox="1"/>
          <p:nvPr/>
        </p:nvSpPr>
        <p:spPr>
          <a:xfrm>
            <a:off x="3840480" y="1801368"/>
            <a:ext cx="1463040" cy="274320"/>
          </a:xfrm>
          <a:prstGeom prst="rect">
            <a:avLst/>
          </a:prstGeom>
          <a:noFill/>
          <a:ln/>
        </p:spPr>
        <p:txBody>
          <a:bodyPr wrap="square" lIns="0" tIns="0" rIns="0" bIns="0" rtlCol="0" anchor="t"/>
          <a:lstStyle/>
          <a:p>
            <a:pPr algn="ctr" indent="0" marL="0">
              <a:buNone/>
            </a:pPr>
            <a:r>
              <a:rPr lang="en-US" sz="1400" b="1" dirty="0">
                <a:solidFill>
                  <a:srgbClr val="1A1825"/>
                </a:solidFill>
                <a:latin typeface="Calibri" pitchFamily="34" charset="0"/>
                <a:ea typeface="Calibri" pitchFamily="34" charset="-122"/>
                <a:cs typeface="Calibri" pitchFamily="34" charset="-120"/>
              </a:rPr>
              <a:t>3 · Analyze</a:t>
            </a:r>
            <a:endParaRPr lang="en-US" sz="1400" dirty="0"/>
          </a:p>
        </p:txBody>
      </p:sp>
      <p:sp>
        <p:nvSpPr>
          <p:cNvPr id="17" name="Text 12"/>
          <p:cNvSpPr txBox="1"/>
          <p:nvPr/>
        </p:nvSpPr>
        <p:spPr>
          <a:xfrm>
            <a:off x="3840480" y="2084832"/>
            <a:ext cx="1463040" cy="685800"/>
          </a:xfrm>
          <a:prstGeom prst="rect">
            <a:avLst/>
          </a:prstGeom>
          <a:noFill/>
          <a:ln/>
        </p:spPr>
        <p:txBody>
          <a:bodyPr wrap="square" lIns="0" tIns="0" rIns="0" bIns="0" rtlCol="0" anchor="t"/>
          <a:lstStyle/>
          <a:p>
            <a:pPr algn="ctr" indent="0" marL="0">
              <a:buNone/>
            </a:pPr>
            <a:r>
              <a:rPr lang="en-US" sz="1100" dirty="0">
                <a:solidFill>
                  <a:srgbClr val="5F5B72"/>
                </a:solidFill>
                <a:latin typeface="Calibri" pitchFamily="34" charset="0"/>
                <a:ea typeface="Calibri" pitchFamily="34" charset="-122"/>
                <a:cs typeface="Calibri" pitchFamily="34" charset="-120"/>
              </a:rPr>
              <a:t>Analyst (code) computes every number from 7,701 rows.</a:t>
            </a:r>
            <a:endParaRPr lang="en-US" sz="1100" dirty="0"/>
          </a:p>
        </p:txBody>
      </p:sp>
      <p:sp>
        <p:nvSpPr>
          <p:cNvPr id="18" name="Shape 13"/>
          <p:cNvSpPr/>
          <p:nvPr/>
        </p:nvSpPr>
        <p:spPr>
          <a:xfrm>
            <a:off x="5943600" y="1143000"/>
            <a:ext cx="548640" cy="548640"/>
          </a:xfrm>
          <a:prstGeom prst="ellipse">
            <a:avLst/>
          </a:prstGeom>
          <a:solidFill>
            <a:srgbClr val="7D66EC"/>
          </a:solidFill>
          <a:ln w="12700">
            <a:solidFill>
              <a:srgbClr val="7D66EC"/>
            </a:solidFill>
            <a:prstDash val="solid"/>
          </a:ln>
        </p:spPr>
      </p:sp>
      <p:pic>
        <p:nvPicPr>
          <p:cNvPr id="19" name="Image 3" descr="preencoded.png">    </p:cNvPr>
          <p:cNvPicPr>
            <a:picLocks noChangeAspect="1"/>
          </p:cNvPicPr>
          <p:nvPr/>
        </p:nvPicPr>
        <p:blipFill>
          <a:blip r:embed="rId4"/>
          <a:stretch>
            <a:fillRect/>
          </a:stretch>
        </p:blipFill>
        <p:spPr>
          <a:xfrm>
            <a:off x="6080760" y="1280160"/>
            <a:ext cx="274320" cy="274320"/>
          </a:xfrm>
          <a:prstGeom prst="rect">
            <a:avLst/>
          </a:prstGeom>
        </p:spPr>
      </p:pic>
      <p:sp>
        <p:nvSpPr>
          <p:cNvPr id="20" name="Shape 14"/>
          <p:cNvSpPr/>
          <p:nvPr/>
        </p:nvSpPr>
        <p:spPr>
          <a:xfrm>
            <a:off x="6565392" y="1417320"/>
            <a:ext cx="950976" cy="0"/>
          </a:xfrm>
          <a:prstGeom prst="line">
            <a:avLst/>
          </a:prstGeom>
          <a:noFill/>
          <a:ln w="19050">
            <a:solidFill>
              <a:srgbClr val="B9ACF5"/>
            </a:solidFill>
            <a:prstDash val="solid"/>
            <a:tailEnd type="triangle"/>
          </a:ln>
        </p:spPr>
      </p:sp>
      <p:sp>
        <p:nvSpPr>
          <p:cNvPr id="21" name="Text 15"/>
          <p:cNvSpPr txBox="1"/>
          <p:nvPr/>
        </p:nvSpPr>
        <p:spPr>
          <a:xfrm>
            <a:off x="5486400" y="1801368"/>
            <a:ext cx="1463040" cy="274320"/>
          </a:xfrm>
          <a:prstGeom prst="rect">
            <a:avLst/>
          </a:prstGeom>
          <a:noFill/>
          <a:ln/>
        </p:spPr>
        <p:txBody>
          <a:bodyPr wrap="square" lIns="0" tIns="0" rIns="0" bIns="0" rtlCol="0" anchor="t"/>
          <a:lstStyle/>
          <a:p>
            <a:pPr algn="ctr" indent="0" marL="0">
              <a:buNone/>
            </a:pPr>
            <a:r>
              <a:rPr lang="en-US" sz="1400" b="1" dirty="0">
                <a:solidFill>
                  <a:srgbClr val="1A1825"/>
                </a:solidFill>
                <a:latin typeface="Calibri" pitchFamily="34" charset="0"/>
                <a:ea typeface="Calibri" pitchFamily="34" charset="-122"/>
                <a:cs typeface="Calibri" pitchFamily="34" charset="-120"/>
              </a:rPr>
              <a:t>4 · Brief</a:t>
            </a:r>
            <a:endParaRPr lang="en-US" sz="1400" dirty="0"/>
          </a:p>
        </p:txBody>
      </p:sp>
      <p:sp>
        <p:nvSpPr>
          <p:cNvPr id="22" name="Text 16"/>
          <p:cNvSpPr txBox="1"/>
          <p:nvPr/>
        </p:nvSpPr>
        <p:spPr>
          <a:xfrm>
            <a:off x="5486400" y="2084832"/>
            <a:ext cx="1463040" cy="685800"/>
          </a:xfrm>
          <a:prstGeom prst="rect">
            <a:avLst/>
          </a:prstGeom>
          <a:noFill/>
          <a:ln/>
        </p:spPr>
        <p:txBody>
          <a:bodyPr wrap="square" lIns="0" tIns="0" rIns="0" bIns="0" rtlCol="0" anchor="t"/>
          <a:lstStyle/>
          <a:p>
            <a:pPr algn="ctr" indent="0" marL="0">
              <a:buNone/>
            </a:pPr>
            <a:r>
              <a:rPr lang="en-US" sz="1100" dirty="0">
                <a:solidFill>
                  <a:srgbClr val="5F5B72"/>
                </a:solidFill>
                <a:latin typeface="Calibri" pitchFamily="34" charset="0"/>
                <a:ea typeface="Calibri" pitchFamily="34" charset="-122"/>
                <a:cs typeface="Calibri" pitchFamily="34" charset="-120"/>
              </a:rPr>
              <a:t>Writer (LLM) writes it; Governance checks every line.</a:t>
            </a:r>
            <a:endParaRPr lang="en-US" sz="1100" dirty="0"/>
          </a:p>
        </p:txBody>
      </p:sp>
      <p:sp>
        <p:nvSpPr>
          <p:cNvPr id="23" name="Shape 17"/>
          <p:cNvSpPr/>
          <p:nvPr/>
        </p:nvSpPr>
        <p:spPr>
          <a:xfrm>
            <a:off x="7589520" y="1143000"/>
            <a:ext cx="548640" cy="548640"/>
          </a:xfrm>
          <a:prstGeom prst="ellipse">
            <a:avLst/>
          </a:prstGeom>
          <a:solidFill>
            <a:srgbClr val="7D66EC"/>
          </a:solidFill>
          <a:ln w="12700">
            <a:solidFill>
              <a:srgbClr val="7D66EC"/>
            </a:solidFill>
            <a:prstDash val="solid"/>
          </a:ln>
        </p:spPr>
      </p:sp>
      <p:pic>
        <p:nvPicPr>
          <p:cNvPr id="24" name="Image 4" descr="preencoded.png">    </p:cNvPr>
          <p:cNvPicPr>
            <a:picLocks noChangeAspect="1"/>
          </p:cNvPicPr>
          <p:nvPr/>
        </p:nvPicPr>
        <p:blipFill>
          <a:blip r:embed="rId5"/>
          <a:stretch>
            <a:fillRect/>
          </a:stretch>
        </p:blipFill>
        <p:spPr>
          <a:xfrm>
            <a:off x="7726680" y="1280160"/>
            <a:ext cx="274320" cy="274320"/>
          </a:xfrm>
          <a:prstGeom prst="rect">
            <a:avLst/>
          </a:prstGeom>
        </p:spPr>
      </p:pic>
      <p:sp>
        <p:nvSpPr>
          <p:cNvPr id="25" name="Text 18"/>
          <p:cNvSpPr txBox="1"/>
          <p:nvPr/>
        </p:nvSpPr>
        <p:spPr>
          <a:xfrm>
            <a:off x="7132320" y="1801368"/>
            <a:ext cx="1463040" cy="274320"/>
          </a:xfrm>
          <a:prstGeom prst="rect">
            <a:avLst/>
          </a:prstGeom>
          <a:noFill/>
          <a:ln/>
        </p:spPr>
        <p:txBody>
          <a:bodyPr wrap="square" lIns="0" tIns="0" rIns="0" bIns="0" rtlCol="0" anchor="t"/>
          <a:lstStyle/>
          <a:p>
            <a:pPr algn="ctr" indent="0" marL="0">
              <a:buNone/>
            </a:pPr>
            <a:r>
              <a:rPr lang="en-US" sz="1400" b="1" dirty="0">
                <a:solidFill>
                  <a:srgbClr val="1A1825"/>
                </a:solidFill>
                <a:latin typeface="Calibri" pitchFamily="34" charset="0"/>
                <a:ea typeface="Calibri" pitchFamily="34" charset="-122"/>
                <a:cs typeface="Calibri" pitchFamily="34" charset="-120"/>
              </a:rPr>
              <a:t>5 · Act</a:t>
            </a:r>
            <a:endParaRPr lang="en-US" sz="1400" dirty="0"/>
          </a:p>
        </p:txBody>
      </p:sp>
      <p:sp>
        <p:nvSpPr>
          <p:cNvPr id="26" name="Text 19"/>
          <p:cNvSpPr txBox="1"/>
          <p:nvPr/>
        </p:nvSpPr>
        <p:spPr>
          <a:xfrm>
            <a:off x="7132320" y="2084832"/>
            <a:ext cx="1463040" cy="685800"/>
          </a:xfrm>
          <a:prstGeom prst="rect">
            <a:avLst/>
          </a:prstGeom>
          <a:noFill/>
          <a:ln/>
        </p:spPr>
        <p:txBody>
          <a:bodyPr wrap="square" lIns="0" tIns="0" rIns="0" bIns="0" rtlCol="0" anchor="t"/>
          <a:lstStyle/>
          <a:p>
            <a:pPr algn="ctr" indent="0" marL="0">
              <a:buNone/>
            </a:pPr>
            <a:r>
              <a:rPr lang="en-US" sz="1100" dirty="0">
                <a:solidFill>
                  <a:srgbClr val="5F5B72"/>
                </a:solidFill>
                <a:latin typeface="Calibri" pitchFamily="34" charset="0"/>
                <a:ea typeface="Calibri" pitchFamily="34" charset="-122"/>
                <a:cs typeface="Calibri" pitchFamily="34" charset="-120"/>
              </a:rPr>
              <a:t>Router + Framer give each team its card.</a:t>
            </a:r>
            <a:endParaRPr lang="en-US" sz="1100" dirty="0"/>
          </a:p>
        </p:txBody>
      </p:sp>
      <p:sp>
        <p:nvSpPr>
          <p:cNvPr id="27" name="Shape 20"/>
          <p:cNvSpPr/>
          <p:nvPr/>
        </p:nvSpPr>
        <p:spPr>
          <a:xfrm>
            <a:off x="548640" y="2926080"/>
            <a:ext cx="3886200" cy="1737360"/>
          </a:xfrm>
          <a:prstGeom prst="roundRect">
            <a:avLst>
              <a:gd name="adj" fmla="val 5263"/>
            </a:avLst>
          </a:prstGeom>
          <a:solidFill>
            <a:srgbClr val="F4F2FD"/>
          </a:solidFill>
          <a:ln w="12700">
            <a:solidFill>
              <a:srgbClr val="F4F2FD"/>
            </a:solidFill>
            <a:prstDash val="solid"/>
          </a:ln>
        </p:spPr>
      </p:sp>
      <p:sp>
        <p:nvSpPr>
          <p:cNvPr id="28" name="Text 21"/>
          <p:cNvSpPr txBox="1"/>
          <p:nvPr/>
        </p:nvSpPr>
        <p:spPr>
          <a:xfrm>
            <a:off x="777240" y="3108960"/>
            <a:ext cx="3474720" cy="274320"/>
          </a:xfrm>
          <a:prstGeom prst="rect">
            <a:avLst/>
          </a:prstGeom>
          <a:noFill/>
          <a:ln/>
        </p:spPr>
        <p:txBody>
          <a:bodyPr wrap="square" lIns="0" tIns="0" rIns="0" bIns="0" rtlCol="0" anchor="t"/>
          <a:lstStyle/>
          <a:p>
            <a:pPr indent="0" marL="0">
              <a:buNone/>
            </a:pPr>
            <a:r>
              <a:rPr lang="en-US" sz="1400" b="1" dirty="0">
                <a:solidFill>
                  <a:srgbClr val="1A1825"/>
                </a:solidFill>
                <a:latin typeface="Calibri" pitchFamily="34" charset="0"/>
                <a:ea typeface="Calibri" pitchFamily="34" charset="-122"/>
                <a:cs typeface="Calibri" pitchFamily="34" charset="-120"/>
              </a:rPr>
              <a:t>6 lenses on the problem</a:t>
            </a:r>
            <a:endParaRPr lang="en-US" sz="1400" dirty="0"/>
          </a:p>
        </p:txBody>
      </p:sp>
      <p:sp>
        <p:nvSpPr>
          <p:cNvPr id="29" name="Shape 22"/>
          <p:cNvSpPr/>
          <p:nvPr/>
        </p:nvSpPr>
        <p:spPr>
          <a:xfrm>
            <a:off x="777240" y="3493008"/>
            <a:ext cx="1645920" cy="274320"/>
          </a:xfrm>
          <a:prstGeom prst="roundRect">
            <a:avLst>
              <a:gd name="adj" fmla="val 50000"/>
            </a:avLst>
          </a:prstGeom>
          <a:solidFill>
            <a:srgbClr val="FFFFFF"/>
          </a:solidFill>
          <a:ln w="9525">
            <a:solidFill>
              <a:srgbClr val="B9ACF5"/>
            </a:solidFill>
            <a:prstDash val="solid"/>
          </a:ln>
        </p:spPr>
      </p:sp>
      <p:sp>
        <p:nvSpPr>
          <p:cNvPr id="30" name="Text 23"/>
          <p:cNvSpPr txBox="1"/>
          <p:nvPr/>
        </p:nvSpPr>
        <p:spPr>
          <a:xfrm>
            <a:off x="777240" y="3493008"/>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Where the product fails</a:t>
            </a:r>
            <a:endParaRPr lang="en-US" sz="1050" dirty="0"/>
          </a:p>
        </p:txBody>
      </p:sp>
      <p:sp>
        <p:nvSpPr>
          <p:cNvPr id="31" name="Shape 24"/>
          <p:cNvSpPr/>
          <p:nvPr/>
        </p:nvSpPr>
        <p:spPr>
          <a:xfrm>
            <a:off x="2532888" y="3493008"/>
            <a:ext cx="1645920" cy="274320"/>
          </a:xfrm>
          <a:prstGeom prst="roundRect">
            <a:avLst>
              <a:gd name="adj" fmla="val 50000"/>
            </a:avLst>
          </a:prstGeom>
          <a:solidFill>
            <a:srgbClr val="FFFFFF"/>
          </a:solidFill>
          <a:ln w="9525">
            <a:solidFill>
              <a:srgbClr val="B9ACF5"/>
            </a:solidFill>
            <a:prstDash val="solid"/>
          </a:ln>
        </p:spPr>
      </p:sp>
      <p:sp>
        <p:nvSpPr>
          <p:cNvPr id="32" name="Text 25"/>
          <p:cNvSpPr txBox="1"/>
          <p:nvPr/>
        </p:nvSpPr>
        <p:spPr>
          <a:xfrm>
            <a:off x="2532888" y="3493008"/>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Competitor price &amp; claims</a:t>
            </a:r>
            <a:endParaRPr lang="en-US" sz="1050" dirty="0"/>
          </a:p>
        </p:txBody>
      </p:sp>
      <p:sp>
        <p:nvSpPr>
          <p:cNvPr id="33" name="Shape 26"/>
          <p:cNvSpPr/>
          <p:nvPr/>
        </p:nvSpPr>
        <p:spPr>
          <a:xfrm>
            <a:off x="777240" y="3831336"/>
            <a:ext cx="1645920" cy="274320"/>
          </a:xfrm>
          <a:prstGeom prst="roundRect">
            <a:avLst>
              <a:gd name="adj" fmla="val 50000"/>
            </a:avLst>
          </a:prstGeom>
          <a:solidFill>
            <a:srgbClr val="FFFFFF"/>
          </a:solidFill>
          <a:ln w="9525">
            <a:solidFill>
              <a:srgbClr val="B9ACF5"/>
            </a:solidFill>
            <a:prstDash val="solid"/>
          </a:ln>
        </p:spPr>
      </p:sp>
      <p:sp>
        <p:nvSpPr>
          <p:cNvPr id="34" name="Text 27"/>
          <p:cNvSpPr txBox="1"/>
          <p:nvPr/>
        </p:nvSpPr>
        <p:spPr>
          <a:xfrm>
            <a:off x="777240" y="3831336"/>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Customer discovery</a:t>
            </a:r>
            <a:endParaRPr lang="en-US" sz="1050" dirty="0"/>
          </a:p>
        </p:txBody>
      </p:sp>
      <p:sp>
        <p:nvSpPr>
          <p:cNvPr id="35" name="Shape 28"/>
          <p:cNvSpPr/>
          <p:nvPr/>
        </p:nvSpPr>
        <p:spPr>
          <a:xfrm>
            <a:off x="2532888" y="3831336"/>
            <a:ext cx="1645920" cy="274320"/>
          </a:xfrm>
          <a:prstGeom prst="roundRect">
            <a:avLst>
              <a:gd name="adj" fmla="val 50000"/>
            </a:avLst>
          </a:prstGeom>
          <a:solidFill>
            <a:srgbClr val="FFFFFF"/>
          </a:solidFill>
          <a:ln w="9525">
            <a:solidFill>
              <a:srgbClr val="B9ACF5"/>
            </a:solidFill>
            <a:prstDash val="solid"/>
          </a:ln>
        </p:spPr>
      </p:sp>
      <p:sp>
        <p:nvSpPr>
          <p:cNvPr id="36" name="Text 29"/>
          <p:cNvSpPr txBox="1"/>
          <p:nvPr/>
        </p:nvSpPr>
        <p:spPr>
          <a:xfrm>
            <a:off x="2532888" y="3831336"/>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Sales channels</a:t>
            </a:r>
            <a:endParaRPr lang="en-US" sz="1050" dirty="0"/>
          </a:p>
        </p:txBody>
      </p:sp>
      <p:sp>
        <p:nvSpPr>
          <p:cNvPr id="37" name="Shape 30"/>
          <p:cNvSpPr/>
          <p:nvPr/>
        </p:nvSpPr>
        <p:spPr>
          <a:xfrm>
            <a:off x="777240" y="4169664"/>
            <a:ext cx="1645920" cy="274320"/>
          </a:xfrm>
          <a:prstGeom prst="roundRect">
            <a:avLst>
              <a:gd name="adj" fmla="val 50000"/>
            </a:avLst>
          </a:prstGeom>
          <a:solidFill>
            <a:srgbClr val="FFFFFF"/>
          </a:solidFill>
          <a:ln w="9525">
            <a:solidFill>
              <a:srgbClr val="B9ACF5"/>
            </a:solidFill>
            <a:prstDash val="solid"/>
          </a:ln>
        </p:spPr>
      </p:sp>
      <p:sp>
        <p:nvSpPr>
          <p:cNvPr id="38" name="Text 31"/>
          <p:cNvSpPr txBox="1"/>
          <p:nvPr/>
        </p:nvSpPr>
        <p:spPr>
          <a:xfrm>
            <a:off x="777240" y="4169664"/>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Retention playbook</a:t>
            </a:r>
            <a:endParaRPr lang="en-US" sz="1050" dirty="0"/>
          </a:p>
        </p:txBody>
      </p:sp>
      <p:sp>
        <p:nvSpPr>
          <p:cNvPr id="39" name="Shape 32"/>
          <p:cNvSpPr/>
          <p:nvPr/>
        </p:nvSpPr>
        <p:spPr>
          <a:xfrm>
            <a:off x="2532888" y="4169664"/>
            <a:ext cx="1645920" cy="274320"/>
          </a:xfrm>
          <a:prstGeom prst="roundRect">
            <a:avLst>
              <a:gd name="adj" fmla="val 50000"/>
            </a:avLst>
          </a:prstGeom>
          <a:solidFill>
            <a:srgbClr val="FFFFFF"/>
          </a:solidFill>
          <a:ln w="9525">
            <a:solidFill>
              <a:srgbClr val="B9ACF5"/>
            </a:solidFill>
            <a:prstDash val="solid"/>
          </a:ln>
        </p:spPr>
      </p:sp>
      <p:sp>
        <p:nvSpPr>
          <p:cNvPr id="40" name="Text 33"/>
          <p:cNvSpPr txBox="1"/>
          <p:nvPr/>
        </p:nvSpPr>
        <p:spPr>
          <a:xfrm>
            <a:off x="2532888" y="4169664"/>
            <a:ext cx="1645920" cy="274320"/>
          </a:xfrm>
          <a:prstGeom prst="rect">
            <a:avLst/>
          </a:prstGeom>
          <a:noFill/>
          <a:ln/>
        </p:spPr>
        <p:txBody>
          <a:bodyPr wrap="square" lIns="0" tIns="0" rIns="0" bIns="0" rtlCol="0" anchor="ctr"/>
          <a:lstStyle/>
          <a:p>
            <a:pPr algn="ctr" indent="0" marL="0">
              <a:buNone/>
            </a:pPr>
            <a:r>
              <a:rPr lang="en-US" sz="1050" dirty="0">
                <a:solidFill>
                  <a:srgbClr val="1A1825"/>
                </a:solidFill>
                <a:latin typeface="Calibri" pitchFamily="34" charset="0"/>
                <a:ea typeface="Calibri" pitchFamily="34" charset="-122"/>
                <a:cs typeface="Calibri" pitchFamily="34" charset="-120"/>
              </a:rPr>
              <a:t>Where buyers talk</a:t>
            </a:r>
            <a:endParaRPr lang="en-US" sz="1050" dirty="0"/>
          </a:p>
        </p:txBody>
      </p:sp>
      <p:sp>
        <p:nvSpPr>
          <p:cNvPr id="41" name="Shape 34"/>
          <p:cNvSpPr/>
          <p:nvPr/>
        </p:nvSpPr>
        <p:spPr>
          <a:xfrm>
            <a:off x="4709160" y="2926080"/>
            <a:ext cx="3886200" cy="1737360"/>
          </a:xfrm>
          <a:prstGeom prst="roundRect">
            <a:avLst>
              <a:gd name="adj" fmla="val 5263"/>
            </a:avLst>
          </a:prstGeom>
          <a:solidFill>
            <a:srgbClr val="F4F2FD"/>
          </a:solidFill>
          <a:ln w="12700">
            <a:solidFill>
              <a:srgbClr val="F4F2FD"/>
            </a:solidFill>
            <a:prstDash val="solid"/>
          </a:ln>
        </p:spPr>
      </p:sp>
      <p:sp>
        <p:nvSpPr>
          <p:cNvPr id="42" name="Text 35"/>
          <p:cNvSpPr txBox="1"/>
          <p:nvPr/>
        </p:nvSpPr>
        <p:spPr>
          <a:xfrm>
            <a:off x="4937760" y="3108960"/>
            <a:ext cx="3474720" cy="274320"/>
          </a:xfrm>
          <a:prstGeom prst="rect">
            <a:avLst/>
          </a:prstGeom>
          <a:noFill/>
          <a:ln/>
        </p:spPr>
        <p:txBody>
          <a:bodyPr wrap="square" lIns="0" tIns="0" rIns="0" bIns="0" rtlCol="0" anchor="t"/>
          <a:lstStyle/>
          <a:p>
            <a:pPr indent="0" marL="0">
              <a:buNone/>
            </a:pPr>
            <a:r>
              <a:rPr lang="en-US" sz="1400" b="1" dirty="0">
                <a:solidFill>
                  <a:srgbClr val="1A1825"/>
                </a:solidFill>
                <a:latin typeface="Calibri" pitchFamily="34" charset="0"/>
                <a:ea typeface="Calibri" pitchFamily="34" charset="-122"/>
                <a:cs typeface="Calibri" pitchFamily="34" charset="-120"/>
              </a:rPr>
              <a:t>Guardrails</a:t>
            </a:r>
            <a:endParaRPr lang="en-US" sz="1400" dirty="0"/>
          </a:p>
        </p:txBody>
      </p:sp>
      <p:sp>
        <p:nvSpPr>
          <p:cNvPr id="43" name="Shape 36"/>
          <p:cNvSpPr/>
          <p:nvPr/>
        </p:nvSpPr>
        <p:spPr>
          <a:xfrm>
            <a:off x="4937760" y="3456432"/>
            <a:ext cx="201168" cy="201168"/>
          </a:xfrm>
          <a:prstGeom prst="ellipse">
            <a:avLst/>
          </a:prstGeom>
          <a:solidFill>
            <a:srgbClr val="7D66EC"/>
          </a:solidFill>
          <a:ln w="12700">
            <a:solidFill>
              <a:srgbClr val="7D66EC"/>
            </a:solidFill>
            <a:prstDash val="solid"/>
          </a:ln>
        </p:spPr>
      </p:sp>
      <p:pic>
        <p:nvPicPr>
          <p:cNvPr id="44" name="Image 5" descr="preencoded.png">    </p:cNvPr>
          <p:cNvPicPr>
            <a:picLocks noChangeAspect="1"/>
          </p:cNvPicPr>
          <p:nvPr/>
        </p:nvPicPr>
        <p:blipFill>
          <a:blip r:embed="rId6"/>
          <a:stretch>
            <a:fillRect/>
          </a:stretch>
        </p:blipFill>
        <p:spPr>
          <a:xfrm>
            <a:off x="4988052" y="3506724"/>
            <a:ext cx="100584" cy="100584"/>
          </a:xfrm>
          <a:prstGeom prst="rect">
            <a:avLst/>
          </a:prstGeom>
        </p:spPr>
      </p:pic>
      <p:sp>
        <p:nvSpPr>
          <p:cNvPr id="45" name="Text 37"/>
          <p:cNvSpPr txBox="1"/>
          <p:nvPr/>
        </p:nvSpPr>
        <p:spPr>
          <a:xfrm>
            <a:off x="5230368" y="3447288"/>
            <a:ext cx="3246120" cy="228600"/>
          </a:xfrm>
          <a:prstGeom prst="rect">
            <a:avLst/>
          </a:prstGeom>
          <a:noFill/>
          <a:ln/>
        </p:spPr>
        <p:txBody>
          <a:bodyPr wrap="square" lIns="0" tIns="0" rIns="0" bIns="0" rtlCol="0" anchor="ctr"/>
          <a:lstStyle/>
          <a:p>
            <a:pPr indent="0" marL="0">
              <a:buNone/>
            </a:pPr>
            <a:r>
              <a:rPr lang="en-US" sz="1000" dirty="0">
                <a:solidFill>
                  <a:srgbClr val="1A1825"/>
                </a:solidFill>
                <a:latin typeface="Calibri" pitchFamily="34" charset="0"/>
                <a:ea typeface="Calibri" pitchFamily="34" charset="-122"/>
                <a:cs typeface="Calibri" pitchFamily="34" charset="-120"/>
              </a:rPr>
              <a:t>Every sentence cites its source rows</a:t>
            </a:r>
            <a:endParaRPr lang="en-US" sz="1000" dirty="0"/>
          </a:p>
        </p:txBody>
      </p:sp>
      <p:sp>
        <p:nvSpPr>
          <p:cNvPr id="46" name="Shape 38"/>
          <p:cNvSpPr/>
          <p:nvPr/>
        </p:nvSpPr>
        <p:spPr>
          <a:xfrm>
            <a:off x="4937760" y="3694176"/>
            <a:ext cx="201168" cy="201168"/>
          </a:xfrm>
          <a:prstGeom prst="ellipse">
            <a:avLst/>
          </a:prstGeom>
          <a:solidFill>
            <a:srgbClr val="7D66EC"/>
          </a:solidFill>
          <a:ln w="12700">
            <a:solidFill>
              <a:srgbClr val="7D66EC"/>
            </a:solidFill>
            <a:prstDash val="solid"/>
          </a:ln>
        </p:spPr>
      </p:sp>
      <p:pic>
        <p:nvPicPr>
          <p:cNvPr id="47" name="Image 6" descr="preencoded.png">    </p:cNvPr>
          <p:cNvPicPr>
            <a:picLocks noChangeAspect="1"/>
          </p:cNvPicPr>
          <p:nvPr/>
        </p:nvPicPr>
        <p:blipFill>
          <a:blip r:embed="rId7"/>
          <a:stretch>
            <a:fillRect/>
          </a:stretch>
        </p:blipFill>
        <p:spPr>
          <a:xfrm>
            <a:off x="4988052" y="3744468"/>
            <a:ext cx="100584" cy="100584"/>
          </a:xfrm>
          <a:prstGeom prst="rect">
            <a:avLst/>
          </a:prstGeom>
        </p:spPr>
      </p:pic>
      <p:sp>
        <p:nvSpPr>
          <p:cNvPr id="48" name="Text 39"/>
          <p:cNvSpPr txBox="1"/>
          <p:nvPr/>
        </p:nvSpPr>
        <p:spPr>
          <a:xfrm>
            <a:off x="5230368" y="3685032"/>
            <a:ext cx="3246120" cy="228600"/>
          </a:xfrm>
          <a:prstGeom prst="rect">
            <a:avLst/>
          </a:prstGeom>
          <a:noFill/>
          <a:ln/>
        </p:spPr>
        <p:txBody>
          <a:bodyPr wrap="square" lIns="0" tIns="0" rIns="0" bIns="0" rtlCol="0" anchor="ctr"/>
          <a:lstStyle/>
          <a:p>
            <a:pPr indent="0" marL="0">
              <a:buNone/>
            </a:pPr>
            <a:r>
              <a:rPr lang="en-US" sz="1000" dirty="0">
                <a:solidFill>
                  <a:srgbClr val="1A1825"/>
                </a:solidFill>
                <a:latin typeface="Calibri" pitchFamily="34" charset="0"/>
                <a:ea typeface="Calibri" pitchFamily="34" charset="-122"/>
                <a:cs typeface="Calibri" pitchFamily="34" charset="-120"/>
              </a:rPr>
              <a:t>Wrong numbers go back to the LLM, else flagged</a:t>
            </a:r>
            <a:endParaRPr lang="en-US" sz="1000" dirty="0"/>
          </a:p>
        </p:txBody>
      </p:sp>
      <p:sp>
        <p:nvSpPr>
          <p:cNvPr id="49" name="Shape 40"/>
          <p:cNvSpPr/>
          <p:nvPr/>
        </p:nvSpPr>
        <p:spPr>
          <a:xfrm>
            <a:off x="4937760" y="3931920"/>
            <a:ext cx="201168" cy="201168"/>
          </a:xfrm>
          <a:prstGeom prst="ellipse">
            <a:avLst/>
          </a:prstGeom>
          <a:solidFill>
            <a:srgbClr val="7D66EC"/>
          </a:solidFill>
          <a:ln w="12700">
            <a:solidFill>
              <a:srgbClr val="7D66EC"/>
            </a:solidFill>
            <a:prstDash val="solid"/>
          </a:ln>
        </p:spPr>
      </p:sp>
      <p:pic>
        <p:nvPicPr>
          <p:cNvPr id="50" name="Image 7" descr="preencoded.png">    </p:cNvPr>
          <p:cNvPicPr>
            <a:picLocks noChangeAspect="1"/>
          </p:cNvPicPr>
          <p:nvPr/>
        </p:nvPicPr>
        <p:blipFill>
          <a:blip r:embed="rId8"/>
          <a:stretch>
            <a:fillRect/>
          </a:stretch>
        </p:blipFill>
        <p:spPr>
          <a:xfrm>
            <a:off x="4988052" y="3982212"/>
            <a:ext cx="100584" cy="100584"/>
          </a:xfrm>
          <a:prstGeom prst="rect">
            <a:avLst/>
          </a:prstGeom>
        </p:spPr>
      </p:pic>
      <p:sp>
        <p:nvSpPr>
          <p:cNvPr id="51" name="Text 41"/>
          <p:cNvSpPr txBox="1"/>
          <p:nvPr/>
        </p:nvSpPr>
        <p:spPr>
          <a:xfrm>
            <a:off x="5230368" y="3922776"/>
            <a:ext cx="3246120" cy="228600"/>
          </a:xfrm>
          <a:prstGeom prst="rect">
            <a:avLst/>
          </a:prstGeom>
          <a:noFill/>
          <a:ln/>
        </p:spPr>
        <p:txBody>
          <a:bodyPr wrap="square" lIns="0" tIns="0" rIns="0" bIns="0" rtlCol="0" anchor="ctr"/>
          <a:lstStyle/>
          <a:p>
            <a:pPr indent="0" marL="0">
              <a:buNone/>
            </a:pPr>
            <a:r>
              <a:rPr lang="en-US" sz="1000" dirty="0">
                <a:solidFill>
                  <a:srgbClr val="1A1825"/>
                </a:solidFill>
                <a:latin typeface="Calibri" pitchFamily="34" charset="0"/>
                <a:ea typeface="Calibri" pitchFamily="34" charset="-122"/>
                <a:cs typeface="Calibri" pitchFamily="34" charset="-120"/>
              </a:rPr>
              <a:t>Posts, spend and price changes need Strategy's OK</a:t>
            </a:r>
            <a:endParaRPr lang="en-US" sz="1000" dirty="0"/>
          </a:p>
        </p:txBody>
      </p:sp>
      <p:sp>
        <p:nvSpPr>
          <p:cNvPr id="52" name="Shape 42"/>
          <p:cNvSpPr/>
          <p:nvPr/>
        </p:nvSpPr>
        <p:spPr>
          <a:xfrm>
            <a:off x="4937760" y="4169664"/>
            <a:ext cx="201168" cy="201168"/>
          </a:xfrm>
          <a:prstGeom prst="ellipse">
            <a:avLst/>
          </a:prstGeom>
          <a:solidFill>
            <a:srgbClr val="7D66EC"/>
          </a:solidFill>
          <a:ln w="12700">
            <a:solidFill>
              <a:srgbClr val="7D66EC"/>
            </a:solidFill>
            <a:prstDash val="solid"/>
          </a:ln>
        </p:spPr>
      </p:sp>
      <p:pic>
        <p:nvPicPr>
          <p:cNvPr id="53" name="Image 8" descr="preencoded.png">    </p:cNvPr>
          <p:cNvPicPr>
            <a:picLocks noChangeAspect="1"/>
          </p:cNvPicPr>
          <p:nvPr/>
        </p:nvPicPr>
        <p:blipFill>
          <a:blip r:embed="rId9"/>
          <a:stretch>
            <a:fillRect/>
          </a:stretch>
        </p:blipFill>
        <p:spPr>
          <a:xfrm>
            <a:off x="4988052" y="4219956"/>
            <a:ext cx="100584" cy="100584"/>
          </a:xfrm>
          <a:prstGeom prst="rect">
            <a:avLst/>
          </a:prstGeom>
        </p:spPr>
      </p:pic>
      <p:sp>
        <p:nvSpPr>
          <p:cNvPr id="54" name="Text 43"/>
          <p:cNvSpPr txBox="1"/>
          <p:nvPr/>
        </p:nvSpPr>
        <p:spPr>
          <a:xfrm>
            <a:off x="5230368" y="4160520"/>
            <a:ext cx="3246120" cy="228600"/>
          </a:xfrm>
          <a:prstGeom prst="rect">
            <a:avLst/>
          </a:prstGeom>
          <a:noFill/>
          <a:ln/>
        </p:spPr>
        <p:txBody>
          <a:bodyPr wrap="square" lIns="0" tIns="0" rIns="0" bIns="0" rtlCol="0" anchor="ctr"/>
          <a:lstStyle/>
          <a:p>
            <a:pPr indent="0" marL="0">
              <a:buNone/>
            </a:pPr>
            <a:r>
              <a:rPr lang="en-US" sz="1000" dirty="0">
                <a:solidFill>
                  <a:srgbClr val="1A1825"/>
                </a:solidFill>
                <a:latin typeface="Calibri" pitchFamily="34" charset="0"/>
                <a:ea typeface="Calibri" pitchFamily="34" charset="-122"/>
                <a:cs typeface="Calibri" pitchFamily="34" charset="-120"/>
              </a:rPr>
              <a:t>Thin evidence is held for Insights to confirm</a:t>
            </a:r>
            <a:endParaRPr lang="en-US" sz="1000" dirty="0"/>
          </a:p>
        </p:txBody>
      </p:sp>
      <p:sp>
        <p:nvSpPr>
          <p:cNvPr id="55" name="Shape 44"/>
          <p:cNvSpPr/>
          <p:nvPr/>
        </p:nvSpPr>
        <p:spPr>
          <a:xfrm>
            <a:off x="4937760" y="4407408"/>
            <a:ext cx="201168" cy="201168"/>
          </a:xfrm>
          <a:prstGeom prst="ellipse">
            <a:avLst/>
          </a:prstGeom>
          <a:solidFill>
            <a:srgbClr val="7D66EC"/>
          </a:solidFill>
          <a:ln w="12700">
            <a:solidFill>
              <a:srgbClr val="7D66EC"/>
            </a:solidFill>
            <a:prstDash val="solid"/>
          </a:ln>
        </p:spPr>
      </p:sp>
      <p:pic>
        <p:nvPicPr>
          <p:cNvPr id="56" name="Image 9" descr="preencoded.png">    </p:cNvPr>
          <p:cNvPicPr>
            <a:picLocks noChangeAspect="1"/>
          </p:cNvPicPr>
          <p:nvPr/>
        </p:nvPicPr>
        <p:blipFill>
          <a:blip r:embed="rId10"/>
          <a:stretch>
            <a:fillRect/>
          </a:stretch>
        </p:blipFill>
        <p:spPr>
          <a:xfrm>
            <a:off x="4988052" y="4457700"/>
            <a:ext cx="100584" cy="100584"/>
          </a:xfrm>
          <a:prstGeom prst="rect">
            <a:avLst/>
          </a:prstGeom>
        </p:spPr>
      </p:pic>
      <p:sp>
        <p:nvSpPr>
          <p:cNvPr id="57" name="Text 45"/>
          <p:cNvSpPr txBox="1"/>
          <p:nvPr/>
        </p:nvSpPr>
        <p:spPr>
          <a:xfrm>
            <a:off x="5230368" y="4398264"/>
            <a:ext cx="3246120" cy="228600"/>
          </a:xfrm>
          <a:prstGeom prst="rect">
            <a:avLst/>
          </a:prstGeom>
          <a:noFill/>
          <a:ln/>
        </p:spPr>
        <p:txBody>
          <a:bodyPr wrap="square" lIns="0" tIns="0" rIns="0" bIns="0" rtlCol="0" anchor="ctr"/>
          <a:lstStyle/>
          <a:p>
            <a:pPr indent="0" marL="0">
              <a:buNone/>
            </a:pPr>
            <a:r>
              <a:rPr lang="en-US" sz="1000" dirty="0">
                <a:solidFill>
                  <a:srgbClr val="1A1825"/>
                </a:solidFill>
                <a:latin typeface="Calibri" pitchFamily="34" charset="0"/>
                <a:ea typeface="Calibri" pitchFamily="34" charset="-122"/>
                <a:cs typeface="Calibri" pitchFamily="34" charset="-120"/>
              </a:rPr>
              <a:t>LLM down? Winston says so, never template text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t"/>
          <a:lstStyle/>
          <a:p>
            <a:pPr indent="0" marL="0">
              <a:buNone/>
            </a:pPr>
            <a:r>
              <a:rPr lang="en-US" sz="2800" b="1" dirty="0">
                <a:solidFill>
                  <a:srgbClr val="1A1825"/>
                </a:solidFill>
                <a:latin typeface="Arial" pitchFamily="34" charset="0"/>
                <a:ea typeface="Arial" pitchFamily="34" charset="-122"/>
                <a:cs typeface="Arial" pitchFamily="34" charset="-120"/>
              </a:rPr>
              <a:t>ProForge: from diagnosis to owned actions</a:t>
            </a:r>
            <a:endParaRPr lang="en-US" sz="2800" dirty="0"/>
          </a:p>
        </p:txBody>
      </p:sp>
      <p:graphicFrame>
        <p:nvGraphicFramePr>
          <p:cNvPr id="3" name="Chart 0" descr=""/>
          <p:cNvGraphicFramePr/>
          <p:nvPr/>
        </p:nvGraphicFramePr>
        <p:xfrm>
          <a:off x="457200" y="1005840"/>
          <a:ext cx="4023360" cy="2788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3840480"/>
            <a:ext cx="3931920" cy="502920"/>
          </a:xfrm>
          <a:prstGeom prst="rect">
            <a:avLst/>
          </a:prstGeom>
          <a:noFill/>
          <a:ln/>
        </p:spPr>
        <p:txBody>
          <a:bodyPr wrap="square" lIns="0" tIns="0" rIns="0" bIns="0" rtlCol="0" anchor="t"/>
          <a:lstStyle/>
          <a:p>
            <a:pPr indent="0" marL="0">
              <a:buNone/>
            </a:pPr>
            <a:r>
              <a:rPr lang="en-US" sz="1500" b="1" dirty="0">
                <a:solidFill>
                  <a:srgbClr val="7D66EC"/>
                </a:solidFill>
                <a:latin typeface="Calibri" pitchFamily="34" charset="0"/>
                <a:ea typeface="Calibri" pitchFamily="34" charset="-122"/>
                <a:cs typeface="Calibri" pitchFamily="34" charset="-120"/>
              </a:rPr>
              <a:t>34% say chalky or dry</a:t>
            </a:r>
            <a:pPr indent="0" marL="0">
              <a:buNone/>
            </a:pPr>
            <a:r>
              <a:rPr lang="en-US" sz="1150" dirty="0">
                <a:solidFill>
                  <a:srgbClr val="5F5B72"/>
                </a:solidFill>
                <a:latin typeface="Calibri" pitchFamily="34" charset="0"/>
                <a:ea typeface="Calibri" pitchFamily="34" charset="-122"/>
                <a:cs typeface="Calibri" pitchFamily="34" charset="-120"/>
              </a:rPr>
              <a:t>, up from 22.5% last quarter, and it's the top complaint of buyers who stopped reordering.</a:t>
            </a:r>
            <a:endParaRPr lang="en-US" sz="1500" dirty="0"/>
          </a:p>
        </p:txBody>
      </p:sp>
      <p:sp>
        <p:nvSpPr>
          <p:cNvPr id="5" name="Text 2"/>
          <p:cNvSpPr txBox="1"/>
          <p:nvPr/>
        </p:nvSpPr>
        <p:spPr>
          <a:xfrm>
            <a:off x="4754880" y="1051560"/>
            <a:ext cx="3840480" cy="274320"/>
          </a:xfrm>
          <a:prstGeom prst="rect">
            <a:avLst/>
          </a:prstGeom>
          <a:noFill/>
          <a:ln/>
        </p:spPr>
        <p:txBody>
          <a:bodyPr wrap="square" lIns="0" tIns="0" rIns="0" bIns="0" rtlCol="0" anchor="t"/>
          <a:lstStyle/>
          <a:p>
            <a:pPr indent="0" marL="0">
              <a:buNone/>
            </a:pPr>
            <a:r>
              <a:rPr lang="en-US" sz="1400" b="1" dirty="0">
                <a:solidFill>
                  <a:srgbClr val="1A1825"/>
                </a:solidFill>
                <a:latin typeface="Calibri" pitchFamily="34" charset="0"/>
                <a:ea typeface="Calibri" pitchFamily="34" charset="-122"/>
                <a:cs typeface="Calibri" pitchFamily="34" charset="-120"/>
              </a:rPr>
              <a:t>Each team gets its move</a:t>
            </a:r>
            <a:endParaRPr lang="en-US" sz="1400" dirty="0"/>
          </a:p>
        </p:txBody>
      </p:sp>
      <p:sp>
        <p:nvSpPr>
          <p:cNvPr id="6" name="Shape 3"/>
          <p:cNvSpPr/>
          <p:nvPr/>
        </p:nvSpPr>
        <p:spPr>
          <a:xfrm>
            <a:off x="4754880" y="1417320"/>
            <a:ext cx="3840480" cy="512064"/>
          </a:xfrm>
          <a:prstGeom prst="roundRect">
            <a:avLst>
              <a:gd name="adj" fmla="val 14286"/>
            </a:avLst>
          </a:prstGeom>
          <a:solidFill>
            <a:srgbClr val="F4F2FD"/>
          </a:solidFill>
          <a:ln w="12700">
            <a:solidFill>
              <a:srgbClr val="F4F2FD"/>
            </a:solidFill>
            <a:prstDash val="solid"/>
          </a:ln>
        </p:spPr>
      </p:sp>
      <p:sp>
        <p:nvSpPr>
          <p:cNvPr id="7" name="Shape 4"/>
          <p:cNvSpPr/>
          <p:nvPr/>
        </p:nvSpPr>
        <p:spPr>
          <a:xfrm>
            <a:off x="4873752" y="1545336"/>
            <a:ext cx="914400" cy="256032"/>
          </a:xfrm>
          <a:prstGeom prst="roundRect">
            <a:avLst>
              <a:gd name="adj" fmla="val 50000"/>
            </a:avLst>
          </a:prstGeom>
          <a:solidFill>
            <a:srgbClr val="059669"/>
          </a:solidFill>
          <a:ln w="12700">
            <a:solidFill>
              <a:srgbClr val="059669"/>
            </a:solidFill>
            <a:prstDash val="solid"/>
          </a:ln>
        </p:spPr>
      </p:sp>
      <p:sp>
        <p:nvSpPr>
          <p:cNvPr id="8" name="Text 5"/>
          <p:cNvSpPr txBox="1"/>
          <p:nvPr/>
        </p:nvSpPr>
        <p:spPr>
          <a:xfrm>
            <a:off x="4873752" y="1545336"/>
            <a:ext cx="9144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R&amp;D</a:t>
            </a:r>
            <a:endParaRPr lang="en-US" sz="950" dirty="0"/>
          </a:p>
        </p:txBody>
      </p:sp>
      <p:sp>
        <p:nvSpPr>
          <p:cNvPr id="9" name="Text 6"/>
          <p:cNvSpPr txBox="1"/>
          <p:nvPr/>
        </p:nvSpPr>
        <p:spPr>
          <a:xfrm>
            <a:off x="5897880" y="1463040"/>
            <a:ext cx="2651760" cy="228600"/>
          </a:xfrm>
          <a:prstGeom prst="rect">
            <a:avLst/>
          </a:prstGeom>
          <a:noFill/>
          <a:ln/>
        </p:spPr>
        <p:txBody>
          <a:bodyPr wrap="square" lIns="0" tIns="0" rIns="0" bIns="0" rtlCol="0" anchor="t"/>
          <a:lstStyle/>
          <a:p>
            <a:pPr indent="0" marL="0">
              <a:buNone/>
            </a:pPr>
            <a:r>
              <a:rPr lang="en-US" sz="1150" b="1" dirty="0">
                <a:solidFill>
                  <a:srgbClr val="1A1825"/>
                </a:solidFill>
                <a:latin typeface="Calibri" pitchFamily="34" charset="0"/>
                <a:ea typeface="Calibri" pitchFamily="34" charset="-122"/>
                <a:cs typeface="Calibri" pitchFamily="34" charset="-120"/>
              </a:rPr>
              <a:t>Test a softer bar base</a:t>
            </a:r>
            <a:endParaRPr lang="en-US" sz="1150" dirty="0"/>
          </a:p>
        </p:txBody>
      </p:sp>
      <p:sp>
        <p:nvSpPr>
          <p:cNvPr id="10" name="Text 7"/>
          <p:cNvSpPr txBox="1"/>
          <p:nvPr/>
        </p:nvSpPr>
        <p:spPr>
          <a:xfrm>
            <a:off x="5897880" y="1691640"/>
            <a:ext cx="2651760" cy="201168"/>
          </a:xfrm>
          <a:prstGeom prst="rect">
            <a:avLst/>
          </a:prstGeom>
          <a:noFill/>
          <a:ln/>
        </p:spPr>
        <p:txBody>
          <a:bodyPr wrap="square" lIns="0" tIns="0" rIns="0" bIns="0" rtlCol="0" anchor="t"/>
          <a:lstStyle/>
          <a:p>
            <a:pPr indent="0" marL="0">
              <a:buNone/>
            </a:pPr>
            <a:r>
              <a:rPr lang="en-US" sz="950" dirty="0">
                <a:solidFill>
                  <a:srgbClr val="5F5B72"/>
                </a:solidFill>
                <a:latin typeface="Calibri" pitchFamily="34" charset="0"/>
                <a:ea typeface="Calibri" pitchFamily="34" charset="-122"/>
                <a:cs typeface="Calibri" pitchFamily="34" charset="-120"/>
              </a:rPr>
              <a:t>Texture: 41% of lapsed buyers' reviews</a:t>
            </a:r>
            <a:endParaRPr lang="en-US" sz="950" dirty="0"/>
          </a:p>
        </p:txBody>
      </p:sp>
      <p:sp>
        <p:nvSpPr>
          <p:cNvPr id="11" name="Shape 8"/>
          <p:cNvSpPr/>
          <p:nvPr/>
        </p:nvSpPr>
        <p:spPr>
          <a:xfrm>
            <a:off x="4754880" y="2002536"/>
            <a:ext cx="3840480" cy="512064"/>
          </a:xfrm>
          <a:prstGeom prst="roundRect">
            <a:avLst>
              <a:gd name="adj" fmla="val 14286"/>
            </a:avLst>
          </a:prstGeom>
          <a:solidFill>
            <a:srgbClr val="F4F2FD"/>
          </a:solidFill>
          <a:ln w="12700">
            <a:solidFill>
              <a:srgbClr val="F4F2FD"/>
            </a:solidFill>
            <a:prstDash val="solid"/>
          </a:ln>
        </p:spPr>
      </p:sp>
      <p:sp>
        <p:nvSpPr>
          <p:cNvPr id="12" name="Shape 9"/>
          <p:cNvSpPr/>
          <p:nvPr/>
        </p:nvSpPr>
        <p:spPr>
          <a:xfrm>
            <a:off x="4873752" y="2130552"/>
            <a:ext cx="914400" cy="256032"/>
          </a:xfrm>
          <a:prstGeom prst="roundRect">
            <a:avLst>
              <a:gd name="adj" fmla="val 50000"/>
            </a:avLst>
          </a:prstGeom>
          <a:solidFill>
            <a:srgbClr val="7D66EC"/>
          </a:solidFill>
          <a:ln w="12700">
            <a:solidFill>
              <a:srgbClr val="7D66EC"/>
            </a:solidFill>
            <a:prstDash val="solid"/>
          </a:ln>
        </p:spPr>
      </p:sp>
      <p:sp>
        <p:nvSpPr>
          <p:cNvPr id="13" name="Text 10"/>
          <p:cNvSpPr txBox="1"/>
          <p:nvPr/>
        </p:nvSpPr>
        <p:spPr>
          <a:xfrm>
            <a:off x="4873752" y="2130552"/>
            <a:ext cx="9144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Marketing</a:t>
            </a:r>
            <a:endParaRPr lang="en-US" sz="950" dirty="0"/>
          </a:p>
        </p:txBody>
      </p:sp>
      <p:sp>
        <p:nvSpPr>
          <p:cNvPr id="14" name="Text 11"/>
          <p:cNvSpPr txBox="1"/>
          <p:nvPr/>
        </p:nvSpPr>
        <p:spPr>
          <a:xfrm>
            <a:off x="5897880" y="2048256"/>
            <a:ext cx="2651760" cy="228600"/>
          </a:xfrm>
          <a:prstGeom prst="rect">
            <a:avLst/>
          </a:prstGeom>
          <a:noFill/>
          <a:ln/>
        </p:spPr>
        <p:txBody>
          <a:bodyPr wrap="square" lIns="0" tIns="0" rIns="0" bIns="0" rtlCol="0" anchor="t"/>
          <a:lstStyle/>
          <a:p>
            <a:pPr indent="0" marL="0">
              <a:buNone/>
            </a:pPr>
            <a:r>
              <a:rPr lang="en-US" sz="1150" b="1" dirty="0">
                <a:solidFill>
                  <a:srgbClr val="1A1825"/>
                </a:solidFill>
                <a:latin typeface="Calibri" pitchFamily="34" charset="0"/>
                <a:ea typeface="Calibri" pitchFamily="34" charset="-122"/>
                <a:cs typeface="Calibri" pitchFamily="34" charset="-120"/>
              </a:rPr>
              <a:t>Reorder reminder on day 22</a:t>
            </a:r>
            <a:endParaRPr lang="en-US" sz="1150" dirty="0"/>
          </a:p>
        </p:txBody>
      </p:sp>
      <p:sp>
        <p:nvSpPr>
          <p:cNvPr id="15" name="Text 12"/>
          <p:cNvSpPr txBox="1"/>
          <p:nvPr/>
        </p:nvSpPr>
        <p:spPr>
          <a:xfrm>
            <a:off x="5897880" y="2276856"/>
            <a:ext cx="2651760" cy="201168"/>
          </a:xfrm>
          <a:prstGeom prst="rect">
            <a:avLst/>
          </a:prstGeom>
          <a:noFill/>
          <a:ln/>
        </p:spPr>
        <p:txBody>
          <a:bodyPr wrap="square" lIns="0" tIns="0" rIns="0" bIns="0" rtlCol="0" anchor="t"/>
          <a:lstStyle/>
          <a:p>
            <a:pPr indent="0" marL="0">
              <a:buNone/>
            </a:pPr>
            <a:r>
              <a:rPr lang="en-US" sz="950" dirty="0">
                <a:solidFill>
                  <a:srgbClr val="5F5B72"/>
                </a:solidFill>
                <a:latin typeface="Calibri" pitchFamily="34" charset="0"/>
                <a:ea typeface="Calibri" pitchFamily="34" charset="-122"/>
                <a:cs typeface="Calibri" pitchFamily="34" charset="-120"/>
              </a:rPr>
              <a:t>58% of lapsed buyers missed day 24</a:t>
            </a:r>
            <a:endParaRPr lang="en-US" sz="950" dirty="0"/>
          </a:p>
        </p:txBody>
      </p:sp>
      <p:sp>
        <p:nvSpPr>
          <p:cNvPr id="16" name="Shape 13"/>
          <p:cNvSpPr/>
          <p:nvPr/>
        </p:nvSpPr>
        <p:spPr>
          <a:xfrm>
            <a:off x="4754880" y="2587752"/>
            <a:ext cx="3840480" cy="512064"/>
          </a:xfrm>
          <a:prstGeom prst="roundRect">
            <a:avLst>
              <a:gd name="adj" fmla="val 14286"/>
            </a:avLst>
          </a:prstGeom>
          <a:solidFill>
            <a:srgbClr val="F4F2FD"/>
          </a:solidFill>
          <a:ln w="12700">
            <a:solidFill>
              <a:srgbClr val="F4F2FD"/>
            </a:solidFill>
            <a:prstDash val="solid"/>
          </a:ln>
        </p:spPr>
      </p:sp>
      <p:sp>
        <p:nvSpPr>
          <p:cNvPr id="17" name="Shape 14"/>
          <p:cNvSpPr/>
          <p:nvPr/>
        </p:nvSpPr>
        <p:spPr>
          <a:xfrm>
            <a:off x="4873752" y="2715768"/>
            <a:ext cx="914400" cy="256032"/>
          </a:xfrm>
          <a:prstGeom prst="roundRect">
            <a:avLst>
              <a:gd name="adj" fmla="val 50000"/>
            </a:avLst>
          </a:prstGeom>
          <a:solidFill>
            <a:srgbClr val="7D66EC"/>
          </a:solidFill>
          <a:ln w="12700">
            <a:solidFill>
              <a:srgbClr val="7D66EC"/>
            </a:solidFill>
            <a:prstDash val="solid"/>
          </a:ln>
        </p:spPr>
      </p:sp>
      <p:sp>
        <p:nvSpPr>
          <p:cNvPr id="18" name="Text 15"/>
          <p:cNvSpPr txBox="1"/>
          <p:nvPr/>
        </p:nvSpPr>
        <p:spPr>
          <a:xfrm>
            <a:off x="4873752" y="2715768"/>
            <a:ext cx="9144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Marketing</a:t>
            </a:r>
            <a:endParaRPr lang="en-US" sz="950" dirty="0"/>
          </a:p>
        </p:txBody>
      </p:sp>
      <p:sp>
        <p:nvSpPr>
          <p:cNvPr id="19" name="Text 16"/>
          <p:cNvSpPr txBox="1"/>
          <p:nvPr/>
        </p:nvSpPr>
        <p:spPr>
          <a:xfrm>
            <a:off x="5897880" y="2633472"/>
            <a:ext cx="2651760" cy="228600"/>
          </a:xfrm>
          <a:prstGeom prst="rect">
            <a:avLst/>
          </a:prstGeom>
          <a:noFill/>
          <a:ln/>
        </p:spPr>
        <p:txBody>
          <a:bodyPr wrap="square" lIns="0" tIns="0" rIns="0" bIns="0" rtlCol="0" anchor="t"/>
          <a:lstStyle/>
          <a:p>
            <a:pPr indent="0" marL="0">
              <a:buNone/>
            </a:pPr>
            <a:r>
              <a:rPr lang="en-US" sz="1150" b="1" dirty="0">
                <a:solidFill>
                  <a:srgbClr val="1A1825"/>
                </a:solidFill>
                <a:latin typeface="Calibri" pitchFamily="34" charset="0"/>
                <a:ea typeface="Calibri" pitchFamily="34" charset="-122"/>
                <a:cs typeface="Calibri" pitchFamily="34" charset="-120"/>
              </a:rPr>
              <a:t>Answer 22 open sugar questions</a:t>
            </a:r>
            <a:endParaRPr lang="en-US" sz="1150" dirty="0"/>
          </a:p>
        </p:txBody>
      </p:sp>
      <p:sp>
        <p:nvSpPr>
          <p:cNvPr id="20" name="Text 17"/>
          <p:cNvSpPr txBox="1"/>
          <p:nvPr/>
        </p:nvSpPr>
        <p:spPr>
          <a:xfrm>
            <a:off x="5897880" y="2862072"/>
            <a:ext cx="2651760" cy="201168"/>
          </a:xfrm>
          <a:prstGeom prst="rect">
            <a:avLst/>
          </a:prstGeom>
          <a:noFill/>
          <a:ln/>
        </p:spPr>
        <p:txBody>
          <a:bodyPr wrap="square" lIns="0" tIns="0" rIns="0" bIns="0" rtlCol="0" anchor="t"/>
          <a:lstStyle/>
          <a:p>
            <a:pPr indent="0" marL="0">
              <a:buNone/>
            </a:pPr>
            <a:r>
              <a:rPr lang="en-US" sz="950" dirty="0">
                <a:solidFill>
                  <a:srgbClr val="B45309"/>
                </a:solidFill>
                <a:latin typeface="Calibri" pitchFamily="34" charset="0"/>
                <a:ea typeface="Calibri" pitchFamily="34" charset="-122"/>
                <a:cs typeface="Calibri" pitchFamily="34" charset="-120"/>
              </a:rPr>
              <a:t>on r/IndianFitness  ·  needs approval</a:t>
            </a:r>
            <a:endParaRPr lang="en-US" sz="950" dirty="0"/>
          </a:p>
        </p:txBody>
      </p:sp>
      <p:sp>
        <p:nvSpPr>
          <p:cNvPr id="21" name="Shape 18"/>
          <p:cNvSpPr/>
          <p:nvPr/>
        </p:nvSpPr>
        <p:spPr>
          <a:xfrm>
            <a:off x="4754880" y="3172968"/>
            <a:ext cx="3840480" cy="512064"/>
          </a:xfrm>
          <a:prstGeom prst="roundRect">
            <a:avLst>
              <a:gd name="adj" fmla="val 14286"/>
            </a:avLst>
          </a:prstGeom>
          <a:solidFill>
            <a:srgbClr val="F4F2FD"/>
          </a:solidFill>
          <a:ln w="12700">
            <a:solidFill>
              <a:srgbClr val="F4F2FD"/>
            </a:solidFill>
            <a:prstDash val="solid"/>
          </a:ln>
        </p:spPr>
      </p:sp>
      <p:sp>
        <p:nvSpPr>
          <p:cNvPr id="22" name="Shape 19"/>
          <p:cNvSpPr/>
          <p:nvPr/>
        </p:nvSpPr>
        <p:spPr>
          <a:xfrm>
            <a:off x="4873752" y="3300984"/>
            <a:ext cx="914400" cy="256032"/>
          </a:xfrm>
          <a:prstGeom prst="roundRect">
            <a:avLst>
              <a:gd name="adj" fmla="val 50000"/>
            </a:avLst>
          </a:prstGeom>
          <a:solidFill>
            <a:srgbClr val="DB2777"/>
          </a:solidFill>
          <a:ln w="12700">
            <a:solidFill>
              <a:srgbClr val="DB2777"/>
            </a:solidFill>
            <a:prstDash val="solid"/>
          </a:ln>
        </p:spPr>
      </p:sp>
      <p:sp>
        <p:nvSpPr>
          <p:cNvPr id="23" name="Text 20"/>
          <p:cNvSpPr txBox="1"/>
          <p:nvPr/>
        </p:nvSpPr>
        <p:spPr>
          <a:xfrm>
            <a:off x="4873752" y="3300984"/>
            <a:ext cx="9144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Innovation</a:t>
            </a:r>
            <a:endParaRPr lang="en-US" sz="950" dirty="0"/>
          </a:p>
        </p:txBody>
      </p:sp>
      <p:sp>
        <p:nvSpPr>
          <p:cNvPr id="24" name="Text 21"/>
          <p:cNvSpPr txBox="1"/>
          <p:nvPr/>
        </p:nvSpPr>
        <p:spPr>
          <a:xfrm>
            <a:off x="5897880" y="3218688"/>
            <a:ext cx="2651760" cy="228600"/>
          </a:xfrm>
          <a:prstGeom prst="rect">
            <a:avLst/>
          </a:prstGeom>
          <a:noFill/>
          <a:ln/>
        </p:spPr>
        <p:txBody>
          <a:bodyPr wrap="square" lIns="0" tIns="0" rIns="0" bIns="0" rtlCol="0" anchor="t"/>
          <a:lstStyle/>
          <a:p>
            <a:pPr indent="0" marL="0">
              <a:buNone/>
            </a:pPr>
            <a:r>
              <a:rPr lang="en-US" sz="1150" b="1" dirty="0">
                <a:solidFill>
                  <a:srgbClr val="1A1825"/>
                </a:solidFill>
                <a:latin typeface="Calibri" pitchFamily="34" charset="0"/>
                <a:ea typeface="Calibri" pitchFamily="34" charset="-122"/>
                <a:cs typeface="Calibri" pitchFamily="34" charset="-120"/>
              </a:rPr>
              <a:t>Scope a plant-protein bar</a:t>
            </a:r>
            <a:endParaRPr lang="en-US" sz="1150" dirty="0"/>
          </a:p>
        </p:txBody>
      </p:sp>
      <p:sp>
        <p:nvSpPr>
          <p:cNvPr id="25" name="Text 22"/>
          <p:cNvSpPr txBox="1"/>
          <p:nvPr/>
        </p:nvSpPr>
        <p:spPr>
          <a:xfrm>
            <a:off x="5897880" y="3447288"/>
            <a:ext cx="2651760" cy="201168"/>
          </a:xfrm>
          <a:prstGeom prst="rect">
            <a:avLst/>
          </a:prstGeom>
          <a:noFill/>
          <a:ln/>
        </p:spPr>
        <p:txBody>
          <a:bodyPr wrap="square" lIns="0" tIns="0" rIns="0" bIns="0" rtlCol="0" anchor="t"/>
          <a:lstStyle/>
          <a:p>
            <a:pPr indent="0" marL="0">
              <a:buNone/>
            </a:pPr>
            <a:r>
              <a:rPr lang="en-US" sz="950" dirty="0">
                <a:solidFill>
                  <a:srgbClr val="5F5B72"/>
                </a:solidFill>
                <a:latin typeface="Calibri" pitchFamily="34" charset="0"/>
                <a:ea typeface="Calibri" pitchFamily="34" charset="-122"/>
                <a:cs typeface="Calibri" pitchFamily="34" charset="-120"/>
              </a:rPr>
              <a:t>Plant-protein requests up from 12 to 22</a:t>
            </a:r>
            <a:endParaRPr lang="en-US" sz="950" dirty="0"/>
          </a:p>
        </p:txBody>
      </p:sp>
      <p:sp>
        <p:nvSpPr>
          <p:cNvPr id="26" name="Shape 23"/>
          <p:cNvSpPr/>
          <p:nvPr/>
        </p:nvSpPr>
        <p:spPr>
          <a:xfrm>
            <a:off x="4754880" y="3758184"/>
            <a:ext cx="3840480" cy="512064"/>
          </a:xfrm>
          <a:prstGeom prst="roundRect">
            <a:avLst>
              <a:gd name="adj" fmla="val 14286"/>
            </a:avLst>
          </a:prstGeom>
          <a:solidFill>
            <a:srgbClr val="F4F2FD"/>
          </a:solidFill>
          <a:ln w="12700">
            <a:solidFill>
              <a:srgbClr val="F4F2FD"/>
            </a:solidFill>
            <a:prstDash val="solid"/>
          </a:ln>
        </p:spPr>
      </p:sp>
      <p:sp>
        <p:nvSpPr>
          <p:cNvPr id="27" name="Shape 24"/>
          <p:cNvSpPr/>
          <p:nvPr/>
        </p:nvSpPr>
        <p:spPr>
          <a:xfrm>
            <a:off x="4873752" y="3886200"/>
            <a:ext cx="914400" cy="256032"/>
          </a:xfrm>
          <a:prstGeom prst="roundRect">
            <a:avLst>
              <a:gd name="adj" fmla="val 50000"/>
            </a:avLst>
          </a:prstGeom>
          <a:solidFill>
            <a:srgbClr val="F59E0B"/>
          </a:solidFill>
          <a:ln w="12700">
            <a:solidFill>
              <a:srgbClr val="F59E0B"/>
            </a:solidFill>
            <a:prstDash val="solid"/>
          </a:ln>
        </p:spPr>
      </p:sp>
      <p:sp>
        <p:nvSpPr>
          <p:cNvPr id="28" name="Text 25"/>
          <p:cNvSpPr txBox="1"/>
          <p:nvPr/>
        </p:nvSpPr>
        <p:spPr>
          <a:xfrm>
            <a:off x="4873752" y="3886200"/>
            <a:ext cx="914400" cy="256032"/>
          </a:xfrm>
          <a:prstGeom prst="rect">
            <a:avLst/>
          </a:prstGeom>
          <a:noFill/>
          <a:ln/>
        </p:spPr>
        <p:txBody>
          <a:bodyPr wrap="square" lIns="0" tIns="0" rIns="0" bIns="0" rtlCol="0" anchor="ctr"/>
          <a:lstStyle/>
          <a:p>
            <a:pPr algn="ctr" indent="0" marL="0">
              <a:buNone/>
            </a:pPr>
            <a:r>
              <a:rPr lang="en-US" sz="950" b="1" dirty="0">
                <a:solidFill>
                  <a:srgbClr val="1A1825"/>
                </a:solidFill>
                <a:latin typeface="Calibri" pitchFamily="34" charset="0"/>
                <a:ea typeface="Calibri" pitchFamily="34" charset="-122"/>
                <a:cs typeface="Calibri" pitchFamily="34" charset="-120"/>
              </a:rPr>
              <a:t>Strategy</a:t>
            </a:r>
            <a:endParaRPr lang="en-US" sz="950" dirty="0"/>
          </a:p>
        </p:txBody>
      </p:sp>
      <p:sp>
        <p:nvSpPr>
          <p:cNvPr id="29" name="Text 26"/>
          <p:cNvSpPr txBox="1"/>
          <p:nvPr/>
        </p:nvSpPr>
        <p:spPr>
          <a:xfrm>
            <a:off x="5897880" y="3803904"/>
            <a:ext cx="2651760" cy="228600"/>
          </a:xfrm>
          <a:prstGeom prst="rect">
            <a:avLst/>
          </a:prstGeom>
          <a:noFill/>
          <a:ln/>
        </p:spPr>
        <p:txBody>
          <a:bodyPr wrap="square" lIns="0" tIns="0" rIns="0" bIns="0" rtlCol="0" anchor="t"/>
          <a:lstStyle/>
          <a:p>
            <a:pPr indent="0" marL="0">
              <a:buNone/>
            </a:pPr>
            <a:r>
              <a:rPr lang="en-US" sz="1150" b="1" dirty="0">
                <a:solidFill>
                  <a:srgbClr val="1A1825"/>
                </a:solidFill>
                <a:latin typeface="Calibri" pitchFamily="34" charset="0"/>
                <a:ea typeface="Calibri" pitchFamily="34" charset="-122"/>
                <a:cs typeface="Calibri" pitchFamily="34" charset="-120"/>
              </a:rPr>
              <a:t>Price a subscribe-and-save box</a:t>
            </a:r>
            <a:endParaRPr lang="en-US" sz="1150" dirty="0"/>
          </a:p>
        </p:txBody>
      </p:sp>
      <p:sp>
        <p:nvSpPr>
          <p:cNvPr id="30" name="Text 27"/>
          <p:cNvSpPr txBox="1"/>
          <p:nvPr/>
        </p:nvSpPr>
        <p:spPr>
          <a:xfrm>
            <a:off x="5897880" y="4032504"/>
            <a:ext cx="2651760" cy="201168"/>
          </a:xfrm>
          <a:prstGeom prst="rect">
            <a:avLst/>
          </a:prstGeom>
          <a:noFill/>
          <a:ln/>
        </p:spPr>
        <p:txBody>
          <a:bodyPr wrap="square" lIns="0" tIns="0" rIns="0" bIns="0" rtlCol="0" anchor="t"/>
          <a:lstStyle/>
          <a:p>
            <a:pPr indent="0" marL="0">
              <a:buNone/>
            </a:pPr>
            <a:r>
              <a:rPr lang="en-US" sz="950" dirty="0">
                <a:solidFill>
                  <a:srgbClr val="5F5B72"/>
                </a:solidFill>
                <a:latin typeface="Calibri" pitchFamily="34" charset="0"/>
                <a:ea typeface="Calibri" pitchFamily="34" charset="-122"/>
                <a:cs typeface="Calibri" pitchFamily="34" charset="-120"/>
              </a:rPr>
              <a:t>Subscribers reorder 71% vs 24%</a:t>
            </a:r>
            <a:endParaRPr lang="en-US" sz="950" dirty="0"/>
          </a:p>
        </p:txBody>
      </p:sp>
      <p:sp>
        <p:nvSpPr>
          <p:cNvPr id="31" name="Text 28"/>
          <p:cNvSpPr txBox="1"/>
          <p:nvPr/>
        </p:nvSpPr>
        <p:spPr>
          <a:xfrm>
            <a:off x="548640" y="4498848"/>
            <a:ext cx="3931920" cy="365760"/>
          </a:xfrm>
          <a:prstGeom prst="rect">
            <a:avLst/>
          </a:prstGeom>
          <a:noFill/>
          <a:ln/>
        </p:spPr>
        <p:txBody>
          <a:bodyPr wrap="square" lIns="0" tIns="0" rIns="0" bIns="0" rtlCol="0" anchor="t"/>
          <a:lstStyle/>
          <a:p>
            <a:pPr indent="0" marL="0">
              <a:buNone/>
            </a:pPr>
            <a:r>
              <a:rPr lang="en-US" sz="950" b="1" dirty="0">
                <a:solidFill>
                  <a:srgbClr val="7D66EC"/>
                </a:solidFill>
                <a:latin typeface="Calibri" pitchFamily="34" charset="0"/>
                <a:ea typeface="Calibri" pitchFamily="34" charset="-122"/>
                <a:cs typeface="Calibri" pitchFamily="34" charset="-120"/>
              </a:rPr>
              <a:t>Learns per team: Not relevant ×0.8 · improved ×1.1 · worse ×0.9</a:t>
            </a:r>
            <a:endParaRPr lang="en-US" sz="950" dirty="0"/>
          </a:p>
        </p:txBody>
      </p:sp>
      <p:sp>
        <p:nvSpPr>
          <p:cNvPr id="32" name="Text 29"/>
          <p:cNvSpPr txBox="1"/>
          <p:nvPr/>
        </p:nvSpPr>
        <p:spPr>
          <a:xfrm>
            <a:off x="4754880" y="4498848"/>
            <a:ext cx="3840480" cy="365760"/>
          </a:xfrm>
          <a:prstGeom prst="rect">
            <a:avLst/>
          </a:prstGeom>
          <a:noFill/>
          <a:ln/>
        </p:spPr>
        <p:txBody>
          <a:bodyPr wrap="square" lIns="0" tIns="0" rIns="0" bIns="0" rtlCol="0" anchor="t"/>
          <a:lstStyle/>
          <a:p>
            <a:pPr indent="0" marL="0">
              <a:buNone/>
            </a:pPr>
            <a:r>
              <a:rPr lang="en-US" sz="950" dirty="0">
                <a:solidFill>
                  <a:srgbClr val="5F5B72"/>
                </a:solidFill>
                <a:latin typeface="Calibri" pitchFamily="34" charset="0"/>
                <a:ea typeface="Calibri" pitchFamily="34" charset="-122"/>
                <a:cs typeface="Calibri" pitchFamily="34" charset="-120"/>
              </a:rPr>
              <a:t>Next: live connectors · measured outcomes · referrals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CREWASIS · Ask Winston</dc:title>
  <dc:subject>PptxGenJS Presentation</dc:subject>
  <dc:creator>PptxGenJS</dc:creator>
  <cp:lastModifiedBy>PptxGenJS</cp:lastModifiedBy>
  <cp:revision>1</cp:revision>
  <dcterms:created xsi:type="dcterms:W3CDTF">2026-09-25T06:36:24Z</dcterms:created>
  <dcterms:modified xsi:type="dcterms:W3CDTF">2026-09-25T06:36:24Z</dcterms:modified>
</cp:coreProperties>
</file>